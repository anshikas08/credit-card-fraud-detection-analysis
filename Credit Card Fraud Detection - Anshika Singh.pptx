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Canva Sans" panose="020B0604020202020204" charset="0"/>
      <p:regular r:id="rId15"/>
    </p:embeddedFont>
    <p:embeddedFont>
      <p:font typeface="Proxima Nova" panose="020B0604020202020204" charset="0"/>
      <p:regular r:id="rId16"/>
    </p:embeddedFont>
    <p:embeddedFont>
      <p:font typeface="Proxima Nova Bold" panose="020B0604020202020204" charset="0"/>
      <p:regular r:id="rId17"/>
    </p:embeddedFont>
    <p:embeddedFont>
      <p:font typeface="Tomorrow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326" t="-99109" r="-29858"/>
            </a:stretch>
          </a:blipFill>
        </p:spPr>
      </p:sp>
      <p:grpSp>
        <p:nvGrpSpPr>
          <p:cNvPr id="3" name="Group 3"/>
          <p:cNvGrpSpPr/>
          <p:nvPr/>
        </p:nvGrpSpPr>
        <p:grpSpPr>
          <a:xfrm>
            <a:off x="1028700" y="1028700"/>
            <a:ext cx="16516105" cy="8229600"/>
            <a:chOff x="0" y="0"/>
            <a:chExt cx="4349921" cy="2167467"/>
          </a:xfrm>
        </p:grpSpPr>
        <p:sp>
          <p:nvSpPr>
            <p:cNvPr id="4" name="Freeform 4"/>
            <p:cNvSpPr/>
            <p:nvPr/>
          </p:nvSpPr>
          <p:spPr>
            <a:xfrm>
              <a:off x="0" y="0"/>
              <a:ext cx="4349921" cy="2167467"/>
            </a:xfrm>
            <a:custGeom>
              <a:avLst/>
              <a:gdLst/>
              <a:ahLst/>
              <a:cxnLst/>
              <a:rect l="l" t="t" r="r" b="b"/>
              <a:pathLst>
                <a:path w="4349921" h="2167467">
                  <a:moveTo>
                    <a:pt x="0" y="0"/>
                  </a:moveTo>
                  <a:lnTo>
                    <a:pt x="4349921" y="0"/>
                  </a:lnTo>
                  <a:lnTo>
                    <a:pt x="4349921" y="2167467"/>
                  </a:lnTo>
                  <a:lnTo>
                    <a:pt x="0" y="2167467"/>
                  </a:lnTo>
                  <a:close/>
                </a:path>
              </a:pathLst>
            </a:custGeom>
            <a:ln w="28575" cap="sq">
              <a:solidFill>
                <a:srgbClr val="FFFFFF"/>
              </a:solidFill>
              <a:prstDash val="solid"/>
              <a:miter/>
            </a:ln>
          </p:spPr>
        </p:sp>
        <p:sp>
          <p:nvSpPr>
            <p:cNvPr id="5" name="TextBox 5"/>
            <p:cNvSpPr txBox="1"/>
            <p:nvPr/>
          </p:nvSpPr>
          <p:spPr>
            <a:xfrm>
              <a:off x="0" y="-38100"/>
              <a:ext cx="4349921" cy="2205567"/>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rot="6614228" flipH="1">
            <a:off x="1963197" y="3834873"/>
            <a:ext cx="1000490" cy="987756"/>
          </a:xfrm>
          <a:custGeom>
            <a:avLst/>
            <a:gdLst/>
            <a:ahLst/>
            <a:cxnLst/>
            <a:rect l="l" t="t" r="r" b="b"/>
            <a:pathLst>
              <a:path w="1000490" h="987756">
                <a:moveTo>
                  <a:pt x="1000490" y="0"/>
                </a:moveTo>
                <a:lnTo>
                  <a:pt x="0" y="0"/>
                </a:lnTo>
                <a:lnTo>
                  <a:pt x="0" y="987757"/>
                </a:lnTo>
                <a:lnTo>
                  <a:pt x="1000490" y="987757"/>
                </a:lnTo>
                <a:lnTo>
                  <a:pt x="100049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6735694" y="7481921"/>
            <a:ext cx="1861414" cy="2166009"/>
            <a:chOff x="0" y="0"/>
            <a:chExt cx="698500" cy="812800"/>
          </a:xfrm>
        </p:grpSpPr>
        <p:sp>
          <p:nvSpPr>
            <p:cNvPr id="8" name="Freeform 8"/>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9" name="TextBox 9"/>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6657806" y="-644520"/>
            <a:ext cx="1893194" cy="2145689"/>
            <a:chOff x="0" y="0"/>
            <a:chExt cx="698500" cy="791659"/>
          </a:xfrm>
        </p:grpSpPr>
        <p:sp>
          <p:nvSpPr>
            <p:cNvPr id="11" name="Freeform 11"/>
            <p:cNvSpPr/>
            <p:nvPr/>
          </p:nvSpPr>
          <p:spPr>
            <a:xfrm>
              <a:off x="0" y="0"/>
              <a:ext cx="698500" cy="791659"/>
            </a:xfrm>
            <a:custGeom>
              <a:avLst/>
              <a:gdLst/>
              <a:ahLst/>
              <a:cxnLst/>
              <a:rect l="l" t="t" r="r" b="b"/>
              <a:pathLst>
                <a:path w="698500" h="791659">
                  <a:moveTo>
                    <a:pt x="349250" y="0"/>
                  </a:moveTo>
                  <a:lnTo>
                    <a:pt x="698500" y="203200"/>
                  </a:lnTo>
                  <a:lnTo>
                    <a:pt x="698500" y="588459"/>
                  </a:lnTo>
                  <a:lnTo>
                    <a:pt x="349250" y="791659"/>
                  </a:lnTo>
                  <a:lnTo>
                    <a:pt x="0" y="588459"/>
                  </a:lnTo>
                  <a:lnTo>
                    <a:pt x="0" y="203200"/>
                  </a:lnTo>
                  <a:lnTo>
                    <a:pt x="349250" y="0"/>
                  </a:lnTo>
                  <a:close/>
                </a:path>
              </a:pathLst>
            </a:custGeom>
            <a:solidFill>
              <a:srgbClr val="FFFFFF"/>
            </a:solidFill>
          </p:spPr>
        </p:sp>
        <p:sp>
          <p:nvSpPr>
            <p:cNvPr id="12" name="TextBox 12"/>
            <p:cNvSpPr txBox="1"/>
            <p:nvPr/>
          </p:nvSpPr>
          <p:spPr>
            <a:xfrm>
              <a:off x="0" y="101600"/>
              <a:ext cx="698500" cy="550359"/>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6303229" y="544701"/>
            <a:ext cx="1244349" cy="1447970"/>
            <a:chOff x="0" y="0"/>
            <a:chExt cx="698500" cy="812800"/>
          </a:xfrm>
        </p:grpSpPr>
        <p:sp>
          <p:nvSpPr>
            <p:cNvPr id="14" name="Freeform 1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15" name="TextBox 15"/>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028700" y="1028700"/>
            <a:ext cx="4962862" cy="3058927"/>
          </a:xfrm>
          <a:custGeom>
            <a:avLst/>
            <a:gdLst/>
            <a:ahLst/>
            <a:cxnLst/>
            <a:rect l="l" t="t" r="r" b="b"/>
            <a:pathLst>
              <a:path w="4962862" h="3058927">
                <a:moveTo>
                  <a:pt x="0" y="0"/>
                </a:moveTo>
                <a:lnTo>
                  <a:pt x="4962862" y="0"/>
                </a:lnTo>
                <a:lnTo>
                  <a:pt x="4962862" y="3058927"/>
                </a:lnTo>
                <a:lnTo>
                  <a:pt x="0" y="305892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7" name="Group 17"/>
          <p:cNvGrpSpPr/>
          <p:nvPr/>
        </p:nvGrpSpPr>
        <p:grpSpPr>
          <a:xfrm>
            <a:off x="16320692" y="8913120"/>
            <a:ext cx="1226887" cy="1427650"/>
            <a:chOff x="0" y="0"/>
            <a:chExt cx="698500" cy="812800"/>
          </a:xfrm>
        </p:grpSpPr>
        <p:sp>
          <p:nvSpPr>
            <p:cNvPr id="18" name="Freeform 18"/>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19" name="TextBox 19"/>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6462677" y="9582417"/>
            <a:ext cx="12479904" cy="1197508"/>
            <a:chOff x="0" y="0"/>
            <a:chExt cx="4559895" cy="437544"/>
          </a:xfrm>
        </p:grpSpPr>
        <p:sp>
          <p:nvSpPr>
            <p:cNvPr id="21" name="Freeform 21"/>
            <p:cNvSpPr/>
            <p:nvPr/>
          </p:nvSpPr>
          <p:spPr>
            <a:xfrm>
              <a:off x="0" y="0"/>
              <a:ext cx="4559895" cy="437544"/>
            </a:xfrm>
            <a:custGeom>
              <a:avLst/>
              <a:gdLst/>
              <a:ahLst/>
              <a:cxnLst/>
              <a:rect l="l" t="t" r="r" b="b"/>
              <a:pathLst>
                <a:path w="4559895" h="437544">
                  <a:moveTo>
                    <a:pt x="203200" y="0"/>
                  </a:moveTo>
                  <a:lnTo>
                    <a:pt x="4559895" y="0"/>
                  </a:lnTo>
                  <a:lnTo>
                    <a:pt x="4356695" y="437544"/>
                  </a:lnTo>
                  <a:lnTo>
                    <a:pt x="0" y="437544"/>
                  </a:lnTo>
                  <a:lnTo>
                    <a:pt x="203200" y="0"/>
                  </a:lnTo>
                  <a:close/>
                </a:path>
              </a:pathLst>
            </a:custGeom>
            <a:solidFill>
              <a:srgbClr val="FFFFFF"/>
            </a:solidFill>
          </p:spPr>
        </p:sp>
        <p:sp>
          <p:nvSpPr>
            <p:cNvPr id="22" name="TextBox 22"/>
            <p:cNvSpPr txBox="1"/>
            <p:nvPr/>
          </p:nvSpPr>
          <p:spPr>
            <a:xfrm>
              <a:off x="101600" y="-38100"/>
              <a:ext cx="4356695" cy="475644"/>
            </a:xfrm>
            <a:prstGeom prst="rect">
              <a:avLst/>
            </a:prstGeom>
          </p:spPr>
          <p:txBody>
            <a:bodyPr lIns="50800" tIns="50800" rIns="50800" bIns="50800" rtlCol="0" anchor="ctr"/>
            <a:lstStyle/>
            <a:p>
              <a:pPr algn="ctr">
                <a:lnSpc>
                  <a:spcPts val="2659"/>
                </a:lnSpc>
                <a:spcBef>
                  <a:spcPct val="0"/>
                </a:spcBef>
              </a:pPr>
              <a:endParaRPr/>
            </a:p>
          </p:txBody>
        </p:sp>
      </p:grpSp>
      <p:sp>
        <p:nvSpPr>
          <p:cNvPr id="23" name="Freeform 23"/>
          <p:cNvSpPr/>
          <p:nvPr/>
        </p:nvSpPr>
        <p:spPr>
          <a:xfrm rot="4242376" flipH="1" flipV="1">
            <a:off x="6411535" y="7154880"/>
            <a:ext cx="1000490" cy="987756"/>
          </a:xfrm>
          <a:custGeom>
            <a:avLst/>
            <a:gdLst/>
            <a:ahLst/>
            <a:cxnLst/>
            <a:rect l="l" t="t" r="r" b="b"/>
            <a:pathLst>
              <a:path w="1000490" h="987756">
                <a:moveTo>
                  <a:pt x="1000490" y="987756"/>
                </a:moveTo>
                <a:lnTo>
                  <a:pt x="0" y="987756"/>
                </a:lnTo>
                <a:lnTo>
                  <a:pt x="0" y="0"/>
                </a:lnTo>
                <a:lnTo>
                  <a:pt x="1000490" y="0"/>
                </a:lnTo>
                <a:lnTo>
                  <a:pt x="1000490" y="987756"/>
                </a:lnTo>
                <a:close/>
              </a:path>
            </a:pathLst>
          </a:custGeom>
          <a:blipFill>
            <a:blip>
              <a:extLst>
                <a:ext uri="{96DAC541-7B7A-43D3-8B79-37D633B846F1}">
                  <asvg:svgBlip xmlns:asvg="http://schemas.microsoft.com/office/drawing/2016/SVG/main" r:embed="rId3"/>
                </a:ext>
              </a:extLst>
            </a:blip>
            <a:stretch>
              <a:fillRect/>
            </a:stretch>
          </a:blipFill>
        </p:spPr>
      </p:sp>
      <p:sp>
        <p:nvSpPr>
          <p:cNvPr id="24" name="Freeform 24"/>
          <p:cNvSpPr/>
          <p:nvPr/>
        </p:nvSpPr>
        <p:spPr>
          <a:xfrm flipH="1">
            <a:off x="2818778" y="4328751"/>
            <a:ext cx="4962862" cy="3058927"/>
          </a:xfrm>
          <a:custGeom>
            <a:avLst/>
            <a:gdLst/>
            <a:ahLst/>
            <a:cxnLst/>
            <a:rect l="l" t="t" r="r" b="b"/>
            <a:pathLst>
              <a:path w="4962862" h="3058927">
                <a:moveTo>
                  <a:pt x="4962862" y="0"/>
                </a:moveTo>
                <a:lnTo>
                  <a:pt x="0" y="0"/>
                </a:lnTo>
                <a:lnTo>
                  <a:pt x="0" y="3058928"/>
                </a:lnTo>
                <a:lnTo>
                  <a:pt x="4962862" y="3058928"/>
                </a:lnTo>
                <a:lnTo>
                  <a:pt x="4962862" y="0"/>
                </a:lnTo>
                <a:close/>
              </a:path>
            </a:pathLst>
          </a:custGeom>
          <a:blipFill>
            <a:blip>
              <a:extLst>
                <a:ext uri="{96DAC541-7B7A-43D3-8B79-37D633B846F1}">
                  <asvg:svgBlip xmlns:asvg="http://schemas.microsoft.com/office/drawing/2016/SVG/main" r:embed="rId5"/>
                </a:ext>
              </a:extLst>
            </a:blip>
            <a:stretch>
              <a:fillRect/>
            </a:stretch>
          </a:blipFill>
        </p:spPr>
      </p:sp>
      <p:sp>
        <p:nvSpPr>
          <p:cNvPr id="25" name="Freeform 25"/>
          <p:cNvSpPr/>
          <p:nvPr/>
        </p:nvSpPr>
        <p:spPr>
          <a:xfrm>
            <a:off x="4004261" y="595144"/>
            <a:ext cx="3777379" cy="4373807"/>
          </a:xfrm>
          <a:custGeom>
            <a:avLst/>
            <a:gdLst/>
            <a:ahLst/>
            <a:cxnLst/>
            <a:rect l="l" t="t" r="r" b="b"/>
            <a:pathLst>
              <a:path w="3777379" h="4373807">
                <a:moveTo>
                  <a:pt x="0" y="0"/>
                </a:moveTo>
                <a:lnTo>
                  <a:pt x="3777379" y="0"/>
                </a:lnTo>
                <a:lnTo>
                  <a:pt x="3777379" y="4373807"/>
                </a:lnTo>
                <a:lnTo>
                  <a:pt x="0" y="4373807"/>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26" name="Group 26"/>
          <p:cNvGrpSpPr/>
          <p:nvPr/>
        </p:nvGrpSpPr>
        <p:grpSpPr>
          <a:xfrm>
            <a:off x="-939048" y="8913120"/>
            <a:ext cx="9110785" cy="1866804"/>
            <a:chOff x="0" y="0"/>
            <a:chExt cx="3328890" cy="682091"/>
          </a:xfrm>
        </p:grpSpPr>
        <p:sp>
          <p:nvSpPr>
            <p:cNvPr id="27" name="Freeform 27"/>
            <p:cNvSpPr/>
            <p:nvPr/>
          </p:nvSpPr>
          <p:spPr>
            <a:xfrm>
              <a:off x="3460" y="0"/>
              <a:ext cx="3321970" cy="682091"/>
            </a:xfrm>
            <a:custGeom>
              <a:avLst/>
              <a:gdLst/>
              <a:ahLst/>
              <a:cxnLst/>
              <a:rect l="l" t="t" r="r" b="b"/>
              <a:pathLst>
                <a:path w="3321970" h="682091">
                  <a:moveTo>
                    <a:pt x="213336" y="0"/>
                  </a:moveTo>
                  <a:lnTo>
                    <a:pt x="3311834" y="0"/>
                  </a:lnTo>
                  <a:cubicBezTo>
                    <a:pt x="3315034" y="0"/>
                    <a:pt x="3318047" y="1512"/>
                    <a:pt x="3319960" y="4078"/>
                  </a:cubicBezTo>
                  <a:cubicBezTo>
                    <a:pt x="3321873" y="6644"/>
                    <a:pt x="3322462" y="9963"/>
                    <a:pt x="3321548" y="13030"/>
                  </a:cubicBezTo>
                  <a:lnTo>
                    <a:pt x="3126111" y="669061"/>
                  </a:lnTo>
                  <a:cubicBezTo>
                    <a:pt x="3123808" y="676792"/>
                    <a:pt x="3116700" y="682091"/>
                    <a:pt x="3108634" y="682091"/>
                  </a:cubicBezTo>
                  <a:lnTo>
                    <a:pt x="10136" y="682091"/>
                  </a:lnTo>
                  <a:cubicBezTo>
                    <a:pt x="6935" y="682091"/>
                    <a:pt x="3923" y="680579"/>
                    <a:pt x="2010" y="678013"/>
                  </a:cubicBezTo>
                  <a:cubicBezTo>
                    <a:pt x="97" y="675447"/>
                    <a:pt x="-492" y="672128"/>
                    <a:pt x="422" y="669061"/>
                  </a:cubicBezTo>
                  <a:lnTo>
                    <a:pt x="195858" y="13030"/>
                  </a:lnTo>
                  <a:cubicBezTo>
                    <a:pt x="198161" y="5299"/>
                    <a:pt x="205270" y="0"/>
                    <a:pt x="213336" y="0"/>
                  </a:cubicBezTo>
                  <a:close/>
                </a:path>
              </a:pathLst>
            </a:custGeom>
            <a:solidFill>
              <a:srgbClr val="FFFFFF"/>
            </a:solidFill>
          </p:spPr>
        </p:sp>
        <p:sp>
          <p:nvSpPr>
            <p:cNvPr id="28" name="TextBox 28"/>
            <p:cNvSpPr txBox="1"/>
            <p:nvPr/>
          </p:nvSpPr>
          <p:spPr>
            <a:xfrm>
              <a:off x="101600" y="-38100"/>
              <a:ext cx="3125690" cy="720191"/>
            </a:xfrm>
            <a:prstGeom prst="rect">
              <a:avLst/>
            </a:prstGeom>
          </p:spPr>
          <p:txBody>
            <a:bodyPr lIns="50800" tIns="50800" rIns="50800" bIns="50800" rtlCol="0" anchor="ctr"/>
            <a:lstStyle/>
            <a:p>
              <a:pPr algn="ctr">
                <a:lnSpc>
                  <a:spcPts val="2659"/>
                </a:lnSpc>
                <a:spcBef>
                  <a:spcPct val="0"/>
                </a:spcBef>
              </a:pPr>
              <a:endParaRPr/>
            </a:p>
          </p:txBody>
        </p:sp>
      </p:grpSp>
      <p:sp>
        <p:nvSpPr>
          <p:cNvPr id="29" name="TextBox 29"/>
          <p:cNvSpPr txBox="1"/>
          <p:nvPr/>
        </p:nvSpPr>
        <p:spPr>
          <a:xfrm>
            <a:off x="9105834" y="2218730"/>
            <a:ext cx="8320284" cy="4603824"/>
          </a:xfrm>
          <a:prstGeom prst="rect">
            <a:avLst/>
          </a:prstGeom>
        </p:spPr>
        <p:txBody>
          <a:bodyPr lIns="0" tIns="0" rIns="0" bIns="0" rtlCol="0" anchor="t">
            <a:spAutoFit/>
          </a:bodyPr>
          <a:lstStyle/>
          <a:p>
            <a:pPr algn="l">
              <a:lnSpc>
                <a:spcPts val="8793"/>
              </a:lnSpc>
            </a:pPr>
            <a:r>
              <a:rPr lang="en-US" sz="9600" b="1" dirty="0">
                <a:solidFill>
                  <a:srgbClr val="FFFFFF"/>
                </a:solidFill>
                <a:latin typeface="Tomorrow Bold"/>
                <a:ea typeface="Tomorrow Bold"/>
                <a:cs typeface="Tomorrow Bold"/>
                <a:sym typeface="Tomorrow Bold"/>
              </a:rPr>
              <a:t>Credit Card Fraud Detection</a:t>
            </a:r>
          </a:p>
          <a:p>
            <a:pPr algn="l">
              <a:lnSpc>
                <a:spcPts val="9546"/>
              </a:lnSpc>
            </a:pPr>
            <a:endParaRPr lang="en-US" sz="9600" b="1" dirty="0">
              <a:solidFill>
                <a:srgbClr val="FFFFFF"/>
              </a:solidFill>
              <a:latin typeface="Tomorrow Bold"/>
              <a:ea typeface="Tomorrow Bold"/>
              <a:cs typeface="Tomorrow Bold"/>
              <a:sym typeface="Tomorrow Bold"/>
            </a:endParaRPr>
          </a:p>
        </p:txBody>
      </p:sp>
      <p:grpSp>
        <p:nvGrpSpPr>
          <p:cNvPr id="30" name="Group 30"/>
          <p:cNvGrpSpPr/>
          <p:nvPr/>
        </p:nvGrpSpPr>
        <p:grpSpPr>
          <a:xfrm>
            <a:off x="17442757" y="654347"/>
            <a:ext cx="1911822" cy="2166801"/>
            <a:chOff x="0" y="0"/>
            <a:chExt cx="698500" cy="791659"/>
          </a:xfrm>
        </p:grpSpPr>
        <p:sp>
          <p:nvSpPr>
            <p:cNvPr id="31" name="Freeform 31"/>
            <p:cNvSpPr/>
            <p:nvPr/>
          </p:nvSpPr>
          <p:spPr>
            <a:xfrm>
              <a:off x="0" y="0"/>
              <a:ext cx="698500" cy="791659"/>
            </a:xfrm>
            <a:custGeom>
              <a:avLst/>
              <a:gdLst/>
              <a:ahLst/>
              <a:cxnLst/>
              <a:rect l="l" t="t" r="r" b="b"/>
              <a:pathLst>
                <a:path w="698500" h="791659">
                  <a:moveTo>
                    <a:pt x="349250" y="0"/>
                  </a:moveTo>
                  <a:lnTo>
                    <a:pt x="698500" y="203200"/>
                  </a:lnTo>
                  <a:lnTo>
                    <a:pt x="698500" y="588459"/>
                  </a:lnTo>
                  <a:lnTo>
                    <a:pt x="349250" y="791659"/>
                  </a:lnTo>
                  <a:lnTo>
                    <a:pt x="0" y="588459"/>
                  </a:lnTo>
                  <a:lnTo>
                    <a:pt x="0" y="203200"/>
                  </a:lnTo>
                  <a:lnTo>
                    <a:pt x="349250" y="0"/>
                  </a:lnTo>
                  <a:close/>
                </a:path>
              </a:pathLst>
            </a:custGeom>
            <a:solidFill>
              <a:srgbClr val="FFFFFF"/>
            </a:solidFill>
          </p:spPr>
        </p:sp>
        <p:sp>
          <p:nvSpPr>
            <p:cNvPr id="32" name="TextBox 32"/>
            <p:cNvSpPr txBox="1"/>
            <p:nvPr/>
          </p:nvSpPr>
          <p:spPr>
            <a:xfrm>
              <a:off x="0" y="101600"/>
              <a:ext cx="698500" cy="550359"/>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16934135" y="-644520"/>
            <a:ext cx="1464533" cy="1704183"/>
            <a:chOff x="0" y="0"/>
            <a:chExt cx="698500" cy="812800"/>
          </a:xfrm>
        </p:grpSpPr>
        <p:sp>
          <p:nvSpPr>
            <p:cNvPr id="34" name="Freeform 3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5" name="TextBox 35"/>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a:off x="17175068" y="-364162"/>
            <a:ext cx="982667" cy="1143467"/>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6522304" y="779305"/>
            <a:ext cx="823662" cy="958443"/>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657806" y="936980"/>
            <a:ext cx="552658" cy="643092"/>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7666401" y="779305"/>
            <a:ext cx="1377586" cy="1603009"/>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7893030" y="1043019"/>
            <a:ext cx="924327" cy="1075581"/>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934135" y="7744883"/>
            <a:ext cx="1464533" cy="17041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75068" y="8025241"/>
            <a:ext cx="982667" cy="1143467"/>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7" name="Group 57"/>
          <p:cNvGrpSpPr/>
          <p:nvPr/>
        </p:nvGrpSpPr>
        <p:grpSpPr>
          <a:xfrm>
            <a:off x="16522304" y="9168708"/>
            <a:ext cx="823662" cy="958443"/>
            <a:chOff x="0" y="0"/>
            <a:chExt cx="698500" cy="812800"/>
          </a:xfrm>
        </p:grpSpPr>
        <p:sp>
          <p:nvSpPr>
            <p:cNvPr id="58" name="Freeform 58"/>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9" name="TextBox 59"/>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60" name="Group 60"/>
          <p:cNvGrpSpPr/>
          <p:nvPr/>
        </p:nvGrpSpPr>
        <p:grpSpPr>
          <a:xfrm>
            <a:off x="16657806" y="9326383"/>
            <a:ext cx="552658" cy="643092"/>
            <a:chOff x="0" y="0"/>
            <a:chExt cx="698500" cy="812800"/>
          </a:xfrm>
        </p:grpSpPr>
        <p:sp>
          <p:nvSpPr>
            <p:cNvPr id="61" name="Freeform 6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62" name="TextBox 62"/>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63" name="Group 63"/>
          <p:cNvGrpSpPr/>
          <p:nvPr/>
        </p:nvGrpSpPr>
        <p:grpSpPr>
          <a:xfrm>
            <a:off x="17666401" y="9168708"/>
            <a:ext cx="1377586" cy="1603009"/>
            <a:chOff x="0" y="0"/>
            <a:chExt cx="698500" cy="812800"/>
          </a:xfrm>
        </p:grpSpPr>
        <p:sp>
          <p:nvSpPr>
            <p:cNvPr id="64" name="Freeform 6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65" name="TextBox 65"/>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66" name="Group 66"/>
          <p:cNvGrpSpPr/>
          <p:nvPr/>
        </p:nvGrpSpPr>
        <p:grpSpPr>
          <a:xfrm>
            <a:off x="17893030" y="9432422"/>
            <a:ext cx="924327" cy="1075581"/>
            <a:chOff x="0" y="0"/>
            <a:chExt cx="698500" cy="812800"/>
          </a:xfrm>
        </p:grpSpPr>
        <p:sp>
          <p:nvSpPr>
            <p:cNvPr id="67" name="Freeform 6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68" name="TextBox 6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69" name="Freeform 69"/>
          <p:cNvSpPr/>
          <p:nvPr/>
        </p:nvSpPr>
        <p:spPr>
          <a:xfrm>
            <a:off x="730579" y="9168708"/>
            <a:ext cx="885914" cy="885914"/>
          </a:xfrm>
          <a:custGeom>
            <a:avLst/>
            <a:gdLst/>
            <a:ahLst/>
            <a:cxnLst/>
            <a:rect l="l" t="t" r="r" b="b"/>
            <a:pathLst>
              <a:path w="885914" h="885914">
                <a:moveTo>
                  <a:pt x="0" y="0"/>
                </a:moveTo>
                <a:lnTo>
                  <a:pt x="885914" y="0"/>
                </a:lnTo>
                <a:lnTo>
                  <a:pt x="885914" y="885914"/>
                </a:lnTo>
                <a:lnTo>
                  <a:pt x="0" y="88591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70" name="Freeform 70"/>
          <p:cNvSpPr/>
          <p:nvPr/>
        </p:nvSpPr>
        <p:spPr>
          <a:xfrm>
            <a:off x="827148" y="4789697"/>
            <a:ext cx="2034515" cy="1882851"/>
          </a:xfrm>
          <a:custGeom>
            <a:avLst/>
            <a:gdLst/>
            <a:ahLst/>
            <a:cxnLst/>
            <a:rect l="l" t="t" r="r" b="b"/>
            <a:pathLst>
              <a:path w="2034515" h="1882851">
                <a:moveTo>
                  <a:pt x="0" y="0"/>
                </a:moveTo>
                <a:lnTo>
                  <a:pt x="2034515" y="0"/>
                </a:lnTo>
                <a:lnTo>
                  <a:pt x="2034515" y="1882852"/>
                </a:lnTo>
                <a:lnTo>
                  <a:pt x="0" y="188285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71" name="TextBox 71"/>
          <p:cNvSpPr txBox="1"/>
          <p:nvPr/>
        </p:nvSpPr>
        <p:spPr>
          <a:xfrm>
            <a:off x="1844405" y="9526426"/>
            <a:ext cx="5367859" cy="309525"/>
          </a:xfrm>
          <a:prstGeom prst="rect">
            <a:avLst/>
          </a:prstGeom>
        </p:spPr>
        <p:txBody>
          <a:bodyPr lIns="0" tIns="0" rIns="0" bIns="0" rtlCol="0" anchor="t">
            <a:spAutoFit/>
          </a:bodyPr>
          <a:lstStyle/>
          <a:p>
            <a:pPr algn="l">
              <a:lnSpc>
                <a:spcPts val="2281"/>
              </a:lnSpc>
            </a:pPr>
            <a:r>
              <a:rPr lang="en-US" sz="2534" b="1">
                <a:solidFill>
                  <a:srgbClr val="000000"/>
                </a:solidFill>
                <a:latin typeface="Tomorrow Bold"/>
                <a:ea typeface="Tomorrow Bold"/>
                <a:cs typeface="Tomorrow Bold"/>
                <a:sym typeface="Tomorrow Bold"/>
              </a:rPr>
              <a:t>DATA VISUALIZATION PROJECT</a:t>
            </a:r>
          </a:p>
        </p:txBody>
      </p:sp>
      <p:sp>
        <p:nvSpPr>
          <p:cNvPr id="72" name="TextBox 72"/>
          <p:cNvSpPr txBox="1"/>
          <p:nvPr/>
        </p:nvSpPr>
        <p:spPr>
          <a:xfrm>
            <a:off x="10225937" y="6274212"/>
            <a:ext cx="5378478" cy="551433"/>
          </a:xfrm>
          <a:prstGeom prst="rect">
            <a:avLst/>
          </a:prstGeom>
        </p:spPr>
        <p:txBody>
          <a:bodyPr wrap="square" lIns="0" tIns="0" rIns="0" bIns="0" rtlCol="0" anchor="t">
            <a:spAutoFit/>
          </a:bodyPr>
          <a:lstStyle/>
          <a:p>
            <a:pPr algn="l">
              <a:lnSpc>
                <a:spcPts val="4308"/>
              </a:lnSpc>
            </a:pPr>
            <a:r>
              <a:rPr lang="en-US" sz="4800" b="1" dirty="0">
                <a:solidFill>
                  <a:srgbClr val="FFFFFF"/>
                </a:solidFill>
                <a:latin typeface="Tomorrow Bold"/>
                <a:ea typeface="Tomorrow Bold"/>
                <a:cs typeface="Tomorrow Bold"/>
                <a:sym typeface="Tomorrow Bold"/>
              </a:rPr>
              <a:t>Presented by :</a:t>
            </a:r>
          </a:p>
        </p:txBody>
      </p:sp>
      <p:sp>
        <p:nvSpPr>
          <p:cNvPr id="73" name="TextBox 73"/>
          <p:cNvSpPr txBox="1"/>
          <p:nvPr/>
        </p:nvSpPr>
        <p:spPr>
          <a:xfrm>
            <a:off x="10134600" y="7129357"/>
            <a:ext cx="9008444" cy="512961"/>
          </a:xfrm>
          <a:prstGeom prst="rect">
            <a:avLst/>
          </a:prstGeom>
        </p:spPr>
        <p:txBody>
          <a:bodyPr lIns="0" tIns="0" rIns="0" bIns="0" rtlCol="0" anchor="t">
            <a:spAutoFit/>
          </a:bodyPr>
          <a:lstStyle/>
          <a:p>
            <a:pPr algn="l">
              <a:lnSpc>
                <a:spcPts val="3960"/>
              </a:lnSpc>
            </a:pPr>
            <a:r>
              <a:rPr lang="en-US" sz="4800" b="1" dirty="0">
                <a:solidFill>
                  <a:srgbClr val="FFFFFF"/>
                </a:solidFill>
                <a:latin typeface="Tomorrow Bold"/>
                <a:ea typeface="Tomorrow Bold"/>
                <a:cs typeface="Tomorrow Bold"/>
                <a:sym typeface="Tomorrow Bold"/>
              </a:rPr>
              <a:t>Anshika Singh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5441" y="1707214"/>
            <a:ext cx="13542559" cy="546693"/>
            <a:chOff x="0" y="0"/>
            <a:chExt cx="3566765" cy="143985"/>
          </a:xfrm>
        </p:grpSpPr>
        <p:sp>
          <p:nvSpPr>
            <p:cNvPr id="3" name="Freeform 3"/>
            <p:cNvSpPr/>
            <p:nvPr/>
          </p:nvSpPr>
          <p:spPr>
            <a:xfrm>
              <a:off x="0" y="0"/>
              <a:ext cx="3566764" cy="143985"/>
            </a:xfrm>
            <a:custGeom>
              <a:avLst/>
              <a:gdLst/>
              <a:ahLst/>
              <a:cxnLst/>
              <a:rect l="l" t="t" r="r" b="b"/>
              <a:pathLst>
                <a:path w="3566764" h="143985">
                  <a:moveTo>
                    <a:pt x="0" y="0"/>
                  </a:moveTo>
                  <a:lnTo>
                    <a:pt x="3566764" y="0"/>
                  </a:lnTo>
                  <a:lnTo>
                    <a:pt x="3566764" y="143985"/>
                  </a:lnTo>
                  <a:lnTo>
                    <a:pt x="0" y="143985"/>
                  </a:lnTo>
                  <a:close/>
                </a:path>
              </a:pathLst>
            </a:custGeom>
            <a:solidFill>
              <a:srgbClr val="0A4C4C"/>
            </a:solidFill>
          </p:spPr>
        </p:sp>
        <p:sp>
          <p:nvSpPr>
            <p:cNvPr id="4" name="TextBox 4"/>
            <p:cNvSpPr txBox="1"/>
            <p:nvPr/>
          </p:nvSpPr>
          <p:spPr>
            <a:xfrm>
              <a:off x="0" y="-38100"/>
              <a:ext cx="3566765" cy="18208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6614228" flipH="1">
            <a:off x="4278075" y="1183473"/>
            <a:ext cx="1888611" cy="1864574"/>
          </a:xfrm>
          <a:custGeom>
            <a:avLst/>
            <a:gdLst/>
            <a:ahLst/>
            <a:cxnLst/>
            <a:rect l="l" t="t" r="r" b="b"/>
            <a:pathLst>
              <a:path w="1888611" h="1864574">
                <a:moveTo>
                  <a:pt x="1888611" y="0"/>
                </a:moveTo>
                <a:lnTo>
                  <a:pt x="0" y="0"/>
                </a:lnTo>
                <a:lnTo>
                  <a:pt x="0" y="1864574"/>
                </a:lnTo>
                <a:lnTo>
                  <a:pt x="1888611" y="1864574"/>
                </a:lnTo>
                <a:lnTo>
                  <a:pt x="1888611"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128588"/>
            <a:ext cx="18234675" cy="2012445"/>
            <a:chOff x="0" y="0"/>
            <a:chExt cx="4802548" cy="530027"/>
          </a:xfrm>
        </p:grpSpPr>
        <p:sp>
          <p:nvSpPr>
            <p:cNvPr id="7" name="Freeform 7"/>
            <p:cNvSpPr/>
            <p:nvPr/>
          </p:nvSpPr>
          <p:spPr>
            <a:xfrm>
              <a:off x="0" y="0"/>
              <a:ext cx="4802548" cy="530027"/>
            </a:xfrm>
            <a:custGeom>
              <a:avLst/>
              <a:gdLst/>
              <a:ahLst/>
              <a:cxnLst/>
              <a:rect l="l" t="t" r="r" b="b"/>
              <a:pathLst>
                <a:path w="4802548" h="530027">
                  <a:moveTo>
                    <a:pt x="203200" y="0"/>
                  </a:moveTo>
                  <a:lnTo>
                    <a:pt x="4802548" y="0"/>
                  </a:lnTo>
                  <a:lnTo>
                    <a:pt x="4599348" y="530027"/>
                  </a:lnTo>
                  <a:lnTo>
                    <a:pt x="0" y="530027"/>
                  </a:lnTo>
                  <a:lnTo>
                    <a:pt x="203200" y="0"/>
                  </a:lnTo>
                  <a:close/>
                </a:path>
              </a:pathLst>
            </a:custGeom>
            <a:solidFill>
              <a:srgbClr val="41B3AF"/>
            </a:solidFill>
          </p:spPr>
        </p:sp>
        <p:sp>
          <p:nvSpPr>
            <p:cNvPr id="8" name="TextBox 8"/>
            <p:cNvSpPr txBox="1"/>
            <p:nvPr/>
          </p:nvSpPr>
          <p:spPr>
            <a:xfrm>
              <a:off x="101600" y="-38100"/>
              <a:ext cx="4599348" cy="56812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96172" y="9604756"/>
            <a:ext cx="11255645" cy="682244"/>
            <a:chOff x="0" y="0"/>
            <a:chExt cx="2964450" cy="179686"/>
          </a:xfrm>
        </p:grpSpPr>
        <p:sp>
          <p:nvSpPr>
            <p:cNvPr id="10" name="Freeform 10"/>
            <p:cNvSpPr/>
            <p:nvPr/>
          </p:nvSpPr>
          <p:spPr>
            <a:xfrm>
              <a:off x="0" y="0"/>
              <a:ext cx="2964450" cy="179686"/>
            </a:xfrm>
            <a:custGeom>
              <a:avLst/>
              <a:gdLst/>
              <a:ahLst/>
              <a:cxnLst/>
              <a:rect l="l" t="t" r="r" b="b"/>
              <a:pathLst>
                <a:path w="2964450" h="179686">
                  <a:moveTo>
                    <a:pt x="203200" y="0"/>
                  </a:moveTo>
                  <a:lnTo>
                    <a:pt x="2964450" y="0"/>
                  </a:lnTo>
                  <a:lnTo>
                    <a:pt x="2761250" y="179686"/>
                  </a:lnTo>
                  <a:lnTo>
                    <a:pt x="0" y="179686"/>
                  </a:lnTo>
                  <a:lnTo>
                    <a:pt x="203200" y="0"/>
                  </a:lnTo>
                  <a:close/>
                </a:path>
              </a:pathLst>
            </a:custGeom>
            <a:solidFill>
              <a:srgbClr val="41B3AF"/>
            </a:solidFill>
          </p:spPr>
        </p:sp>
        <p:sp>
          <p:nvSpPr>
            <p:cNvPr id="11" name="TextBox 11"/>
            <p:cNvSpPr txBox="1"/>
            <p:nvPr/>
          </p:nvSpPr>
          <p:spPr>
            <a:xfrm>
              <a:off x="101600" y="-38100"/>
              <a:ext cx="276125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745441" y="-78662"/>
            <a:ext cx="13542559" cy="314384"/>
            <a:chOff x="0" y="0"/>
            <a:chExt cx="3566765" cy="82801"/>
          </a:xfrm>
        </p:grpSpPr>
        <p:sp>
          <p:nvSpPr>
            <p:cNvPr id="13" name="Freeform 13"/>
            <p:cNvSpPr/>
            <p:nvPr/>
          </p:nvSpPr>
          <p:spPr>
            <a:xfrm>
              <a:off x="0" y="0"/>
              <a:ext cx="3566764" cy="82801"/>
            </a:xfrm>
            <a:custGeom>
              <a:avLst/>
              <a:gdLst/>
              <a:ahLst/>
              <a:cxnLst/>
              <a:rect l="l" t="t" r="r" b="b"/>
              <a:pathLst>
                <a:path w="3566764" h="82801">
                  <a:moveTo>
                    <a:pt x="0" y="0"/>
                  </a:moveTo>
                  <a:lnTo>
                    <a:pt x="3566764" y="0"/>
                  </a:lnTo>
                  <a:lnTo>
                    <a:pt x="3566764" y="82801"/>
                  </a:lnTo>
                  <a:lnTo>
                    <a:pt x="0" y="82801"/>
                  </a:lnTo>
                  <a:close/>
                </a:path>
              </a:pathLst>
            </a:custGeom>
            <a:solidFill>
              <a:srgbClr val="0A4C4C"/>
            </a:solidFill>
          </p:spPr>
        </p:sp>
        <p:sp>
          <p:nvSpPr>
            <p:cNvPr id="14" name="TextBox 14"/>
            <p:cNvSpPr txBox="1"/>
            <p:nvPr/>
          </p:nvSpPr>
          <p:spPr>
            <a:xfrm>
              <a:off x="0" y="-38100"/>
              <a:ext cx="3566765" cy="12090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070318" y="-128588"/>
            <a:ext cx="2917270" cy="2812786"/>
            <a:chOff x="0" y="0"/>
            <a:chExt cx="633931" cy="611226"/>
          </a:xfrm>
        </p:grpSpPr>
        <p:sp>
          <p:nvSpPr>
            <p:cNvPr id="16" name="Freeform 16"/>
            <p:cNvSpPr/>
            <p:nvPr/>
          </p:nvSpPr>
          <p:spPr>
            <a:xfrm>
              <a:off x="0" y="0"/>
              <a:ext cx="633931" cy="611226"/>
            </a:xfrm>
            <a:custGeom>
              <a:avLst/>
              <a:gdLst/>
              <a:ahLst/>
              <a:cxnLst/>
              <a:rect l="l" t="t" r="r" b="b"/>
              <a:pathLst>
                <a:path w="633931" h="611226">
                  <a:moveTo>
                    <a:pt x="203200" y="0"/>
                  </a:moveTo>
                  <a:lnTo>
                    <a:pt x="633931" y="0"/>
                  </a:lnTo>
                  <a:lnTo>
                    <a:pt x="430731" y="611226"/>
                  </a:lnTo>
                  <a:lnTo>
                    <a:pt x="0" y="611226"/>
                  </a:lnTo>
                  <a:lnTo>
                    <a:pt x="203200" y="0"/>
                  </a:lnTo>
                  <a:close/>
                </a:path>
              </a:pathLst>
            </a:custGeom>
            <a:solidFill>
              <a:srgbClr val="158E8F"/>
            </a:solidFill>
          </p:spPr>
        </p:sp>
        <p:sp>
          <p:nvSpPr>
            <p:cNvPr id="17" name="TextBox 17"/>
            <p:cNvSpPr txBox="1"/>
            <p:nvPr/>
          </p:nvSpPr>
          <p:spPr>
            <a:xfrm>
              <a:off x="101600" y="-38100"/>
              <a:ext cx="430731" cy="6493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973670" y="9604756"/>
            <a:ext cx="1543050" cy="682244"/>
            <a:chOff x="0" y="0"/>
            <a:chExt cx="406400" cy="179686"/>
          </a:xfrm>
        </p:grpSpPr>
        <p:sp>
          <p:nvSpPr>
            <p:cNvPr id="19" name="Freeform 19"/>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0" name="TextBox 20"/>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39709" y="9604756"/>
            <a:ext cx="1543050" cy="682244"/>
            <a:chOff x="0" y="0"/>
            <a:chExt cx="406400" cy="179686"/>
          </a:xfrm>
        </p:grpSpPr>
        <p:sp>
          <p:nvSpPr>
            <p:cNvPr id="22" name="Freeform 22"/>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3" name="TextBox 23"/>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105748" y="9604756"/>
            <a:ext cx="1543050" cy="682244"/>
            <a:chOff x="0" y="0"/>
            <a:chExt cx="406400" cy="179686"/>
          </a:xfrm>
        </p:grpSpPr>
        <p:sp>
          <p:nvSpPr>
            <p:cNvPr id="25" name="Freeform 25"/>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0A4C4C"/>
            </a:solidFill>
          </p:spPr>
        </p:sp>
        <p:sp>
          <p:nvSpPr>
            <p:cNvPr id="26" name="TextBox 26"/>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0" y="9604756"/>
            <a:ext cx="498703" cy="682244"/>
            <a:chOff x="0" y="0"/>
            <a:chExt cx="406400" cy="555970"/>
          </a:xfrm>
        </p:grpSpPr>
        <p:sp>
          <p:nvSpPr>
            <p:cNvPr id="28" name="Freeform 28"/>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29" name="TextBox 29"/>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529997" y="9604756"/>
            <a:ext cx="498703" cy="682244"/>
            <a:chOff x="0" y="0"/>
            <a:chExt cx="406400" cy="555970"/>
          </a:xfrm>
        </p:grpSpPr>
        <p:sp>
          <p:nvSpPr>
            <p:cNvPr id="31" name="Freeform 31"/>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32" name="TextBox 32"/>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3344510" y="9258300"/>
            <a:ext cx="2326640" cy="1028700"/>
            <a:chOff x="0" y="0"/>
            <a:chExt cx="406400" cy="179686"/>
          </a:xfrm>
        </p:grpSpPr>
        <p:sp>
          <p:nvSpPr>
            <p:cNvPr id="34" name="Freeform 34"/>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158E8F"/>
            </a:solidFill>
          </p:spPr>
        </p:sp>
        <p:sp>
          <p:nvSpPr>
            <p:cNvPr id="35" name="TextBox 35"/>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6781735" y="-796920"/>
            <a:ext cx="1464533" cy="170418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7022668" y="-516562"/>
            <a:ext cx="982667" cy="1143467"/>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369904" y="626905"/>
            <a:ext cx="823662" cy="958443"/>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6505406" y="784580"/>
            <a:ext cx="552658" cy="643092"/>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505514" y="1275719"/>
            <a:ext cx="2674083" cy="3111660"/>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793523" y="1610857"/>
            <a:ext cx="2098064" cy="24413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38679" y="2012493"/>
            <a:ext cx="1407751" cy="1638110"/>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57" name="Freeform 57"/>
          <p:cNvSpPr/>
          <p:nvPr/>
        </p:nvSpPr>
        <p:spPr>
          <a:xfrm>
            <a:off x="1028700" y="3650604"/>
            <a:ext cx="5143500" cy="4114800"/>
          </a:xfrm>
          <a:custGeom>
            <a:avLst/>
            <a:gdLst/>
            <a:ahLst/>
            <a:cxnLst/>
            <a:rect l="l" t="t" r="r" b="b"/>
            <a:pathLst>
              <a:path w="5143500" h="4114800">
                <a:moveTo>
                  <a:pt x="0" y="0"/>
                </a:moveTo>
                <a:lnTo>
                  <a:pt x="5143500" y="0"/>
                </a:lnTo>
                <a:lnTo>
                  <a:pt x="51435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8" name="TextBox 58"/>
          <p:cNvSpPr txBox="1"/>
          <p:nvPr/>
        </p:nvSpPr>
        <p:spPr>
          <a:xfrm>
            <a:off x="6035702" y="451688"/>
            <a:ext cx="7744770" cy="1183481"/>
          </a:xfrm>
          <a:prstGeom prst="rect">
            <a:avLst/>
          </a:prstGeom>
        </p:spPr>
        <p:txBody>
          <a:bodyPr lIns="0" tIns="0" rIns="0" bIns="0" rtlCol="0" anchor="t">
            <a:spAutoFit/>
          </a:bodyPr>
          <a:lstStyle/>
          <a:p>
            <a:pPr algn="ctr">
              <a:lnSpc>
                <a:spcPts val="4644"/>
              </a:lnSpc>
            </a:pPr>
            <a:r>
              <a:rPr lang="en-US" sz="4261" b="1">
                <a:solidFill>
                  <a:srgbClr val="FFFFFF"/>
                </a:solidFill>
                <a:latin typeface="Tomorrow Bold"/>
                <a:ea typeface="Tomorrow Bold"/>
                <a:cs typeface="Tomorrow Bold"/>
                <a:sym typeface="Tomorrow Bold"/>
              </a:rPr>
              <a:t>Introduction to Credit Card Fraud Detection</a:t>
            </a:r>
          </a:p>
        </p:txBody>
      </p:sp>
      <p:sp>
        <p:nvSpPr>
          <p:cNvPr id="59" name="TextBox 59"/>
          <p:cNvSpPr txBox="1"/>
          <p:nvPr/>
        </p:nvSpPr>
        <p:spPr>
          <a:xfrm>
            <a:off x="6735365" y="3663607"/>
            <a:ext cx="10058158" cy="5248043"/>
          </a:xfrm>
          <a:prstGeom prst="rect">
            <a:avLst/>
          </a:prstGeom>
        </p:spPr>
        <p:txBody>
          <a:bodyPr lIns="0" tIns="0" rIns="0" bIns="0" rtlCol="0" anchor="t">
            <a:spAutoFit/>
          </a:bodyPr>
          <a:lstStyle/>
          <a:p>
            <a:pPr algn="l">
              <a:lnSpc>
                <a:spcPts val="3832"/>
              </a:lnSpc>
            </a:pPr>
            <a:r>
              <a:rPr lang="en-US" sz="2717">
                <a:solidFill>
                  <a:srgbClr val="000000"/>
                </a:solidFill>
                <a:latin typeface="Proxima Nova"/>
                <a:ea typeface="Proxima Nova"/>
                <a:cs typeface="Proxima Nova"/>
                <a:sym typeface="Proxima Nova"/>
              </a:rPr>
              <a:t>Credit card fraud has become a major issue in the digital economy, causing significant financial losses to individuals and organizations. With the rapid growth of online transactions, detecting fraudulent activities has become increasingly challenging.</a:t>
            </a:r>
          </a:p>
          <a:p>
            <a:pPr algn="l">
              <a:lnSpc>
                <a:spcPts val="3832"/>
              </a:lnSpc>
            </a:pPr>
            <a:endParaRPr lang="en-US" sz="2717">
              <a:solidFill>
                <a:srgbClr val="000000"/>
              </a:solidFill>
              <a:latin typeface="Proxima Nova"/>
              <a:ea typeface="Proxima Nova"/>
              <a:cs typeface="Proxima Nova"/>
              <a:sym typeface="Proxima Nova"/>
            </a:endParaRPr>
          </a:p>
          <a:p>
            <a:pPr algn="l">
              <a:lnSpc>
                <a:spcPts val="3832"/>
              </a:lnSpc>
            </a:pPr>
            <a:r>
              <a:rPr lang="en-US" sz="2717">
                <a:solidFill>
                  <a:srgbClr val="000000"/>
                </a:solidFill>
                <a:latin typeface="Proxima Nova"/>
                <a:ea typeface="Proxima Nova"/>
                <a:cs typeface="Proxima Nova"/>
                <a:sym typeface="Proxima Nova"/>
              </a:rPr>
              <a:t>This project focuses on analyzing transaction data to identify patterns and anomalies that indicate fraud. By using data analysis techniques, we aim to build insights that help in early detection and prevention of fraudulent transactions.</a:t>
            </a:r>
          </a:p>
          <a:p>
            <a:pPr algn="l">
              <a:lnSpc>
                <a:spcPts val="3832"/>
              </a:lnSpc>
            </a:pPr>
            <a:endParaRPr lang="en-US" sz="2717">
              <a:solidFill>
                <a:srgbClr val="000000"/>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5441" y="1707214"/>
            <a:ext cx="13542559" cy="546693"/>
            <a:chOff x="0" y="0"/>
            <a:chExt cx="3566765" cy="143985"/>
          </a:xfrm>
        </p:grpSpPr>
        <p:sp>
          <p:nvSpPr>
            <p:cNvPr id="3" name="Freeform 3"/>
            <p:cNvSpPr/>
            <p:nvPr/>
          </p:nvSpPr>
          <p:spPr>
            <a:xfrm>
              <a:off x="0" y="0"/>
              <a:ext cx="3566764" cy="143985"/>
            </a:xfrm>
            <a:custGeom>
              <a:avLst/>
              <a:gdLst/>
              <a:ahLst/>
              <a:cxnLst/>
              <a:rect l="l" t="t" r="r" b="b"/>
              <a:pathLst>
                <a:path w="3566764" h="143985">
                  <a:moveTo>
                    <a:pt x="0" y="0"/>
                  </a:moveTo>
                  <a:lnTo>
                    <a:pt x="3566764" y="0"/>
                  </a:lnTo>
                  <a:lnTo>
                    <a:pt x="3566764" y="143985"/>
                  </a:lnTo>
                  <a:lnTo>
                    <a:pt x="0" y="143985"/>
                  </a:lnTo>
                  <a:close/>
                </a:path>
              </a:pathLst>
            </a:custGeom>
            <a:solidFill>
              <a:srgbClr val="0A4C4C"/>
            </a:solidFill>
          </p:spPr>
        </p:sp>
        <p:sp>
          <p:nvSpPr>
            <p:cNvPr id="4" name="TextBox 4"/>
            <p:cNvSpPr txBox="1"/>
            <p:nvPr/>
          </p:nvSpPr>
          <p:spPr>
            <a:xfrm>
              <a:off x="0" y="-38100"/>
              <a:ext cx="3566765" cy="18208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6614228" flipH="1">
            <a:off x="4278075" y="1183473"/>
            <a:ext cx="1888611" cy="1864574"/>
          </a:xfrm>
          <a:custGeom>
            <a:avLst/>
            <a:gdLst/>
            <a:ahLst/>
            <a:cxnLst/>
            <a:rect l="l" t="t" r="r" b="b"/>
            <a:pathLst>
              <a:path w="1888611" h="1864574">
                <a:moveTo>
                  <a:pt x="1888611" y="0"/>
                </a:moveTo>
                <a:lnTo>
                  <a:pt x="0" y="0"/>
                </a:lnTo>
                <a:lnTo>
                  <a:pt x="0" y="1864574"/>
                </a:lnTo>
                <a:lnTo>
                  <a:pt x="1888611" y="1864574"/>
                </a:lnTo>
                <a:lnTo>
                  <a:pt x="1888611"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128588"/>
            <a:ext cx="18234675" cy="2012445"/>
            <a:chOff x="0" y="0"/>
            <a:chExt cx="4802548" cy="530027"/>
          </a:xfrm>
        </p:grpSpPr>
        <p:sp>
          <p:nvSpPr>
            <p:cNvPr id="7" name="Freeform 7"/>
            <p:cNvSpPr/>
            <p:nvPr/>
          </p:nvSpPr>
          <p:spPr>
            <a:xfrm>
              <a:off x="0" y="0"/>
              <a:ext cx="4802548" cy="530027"/>
            </a:xfrm>
            <a:custGeom>
              <a:avLst/>
              <a:gdLst/>
              <a:ahLst/>
              <a:cxnLst/>
              <a:rect l="l" t="t" r="r" b="b"/>
              <a:pathLst>
                <a:path w="4802548" h="530027">
                  <a:moveTo>
                    <a:pt x="203200" y="0"/>
                  </a:moveTo>
                  <a:lnTo>
                    <a:pt x="4802548" y="0"/>
                  </a:lnTo>
                  <a:lnTo>
                    <a:pt x="4599348" y="530027"/>
                  </a:lnTo>
                  <a:lnTo>
                    <a:pt x="0" y="530027"/>
                  </a:lnTo>
                  <a:lnTo>
                    <a:pt x="203200" y="0"/>
                  </a:lnTo>
                  <a:close/>
                </a:path>
              </a:pathLst>
            </a:custGeom>
            <a:solidFill>
              <a:srgbClr val="41B3AF"/>
            </a:solidFill>
          </p:spPr>
        </p:sp>
        <p:sp>
          <p:nvSpPr>
            <p:cNvPr id="8" name="TextBox 8"/>
            <p:cNvSpPr txBox="1"/>
            <p:nvPr/>
          </p:nvSpPr>
          <p:spPr>
            <a:xfrm>
              <a:off x="101600" y="-38100"/>
              <a:ext cx="4599348" cy="56812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96172" y="9604756"/>
            <a:ext cx="11255645" cy="682244"/>
            <a:chOff x="0" y="0"/>
            <a:chExt cx="2964450" cy="179686"/>
          </a:xfrm>
        </p:grpSpPr>
        <p:sp>
          <p:nvSpPr>
            <p:cNvPr id="10" name="Freeform 10"/>
            <p:cNvSpPr/>
            <p:nvPr/>
          </p:nvSpPr>
          <p:spPr>
            <a:xfrm>
              <a:off x="0" y="0"/>
              <a:ext cx="2964450" cy="179686"/>
            </a:xfrm>
            <a:custGeom>
              <a:avLst/>
              <a:gdLst/>
              <a:ahLst/>
              <a:cxnLst/>
              <a:rect l="l" t="t" r="r" b="b"/>
              <a:pathLst>
                <a:path w="2964450" h="179686">
                  <a:moveTo>
                    <a:pt x="203200" y="0"/>
                  </a:moveTo>
                  <a:lnTo>
                    <a:pt x="2964450" y="0"/>
                  </a:lnTo>
                  <a:lnTo>
                    <a:pt x="2761250" y="179686"/>
                  </a:lnTo>
                  <a:lnTo>
                    <a:pt x="0" y="179686"/>
                  </a:lnTo>
                  <a:lnTo>
                    <a:pt x="203200" y="0"/>
                  </a:lnTo>
                  <a:close/>
                </a:path>
              </a:pathLst>
            </a:custGeom>
            <a:solidFill>
              <a:srgbClr val="41B3AF"/>
            </a:solidFill>
          </p:spPr>
        </p:sp>
        <p:sp>
          <p:nvSpPr>
            <p:cNvPr id="11" name="TextBox 11"/>
            <p:cNvSpPr txBox="1"/>
            <p:nvPr/>
          </p:nvSpPr>
          <p:spPr>
            <a:xfrm>
              <a:off x="101600" y="-38100"/>
              <a:ext cx="276125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745441" y="-78662"/>
            <a:ext cx="13542559" cy="314384"/>
            <a:chOff x="0" y="0"/>
            <a:chExt cx="3566765" cy="82801"/>
          </a:xfrm>
        </p:grpSpPr>
        <p:sp>
          <p:nvSpPr>
            <p:cNvPr id="13" name="Freeform 13"/>
            <p:cNvSpPr/>
            <p:nvPr/>
          </p:nvSpPr>
          <p:spPr>
            <a:xfrm>
              <a:off x="0" y="0"/>
              <a:ext cx="3566764" cy="82801"/>
            </a:xfrm>
            <a:custGeom>
              <a:avLst/>
              <a:gdLst/>
              <a:ahLst/>
              <a:cxnLst/>
              <a:rect l="l" t="t" r="r" b="b"/>
              <a:pathLst>
                <a:path w="3566764" h="82801">
                  <a:moveTo>
                    <a:pt x="0" y="0"/>
                  </a:moveTo>
                  <a:lnTo>
                    <a:pt x="3566764" y="0"/>
                  </a:lnTo>
                  <a:lnTo>
                    <a:pt x="3566764" y="82801"/>
                  </a:lnTo>
                  <a:lnTo>
                    <a:pt x="0" y="82801"/>
                  </a:lnTo>
                  <a:close/>
                </a:path>
              </a:pathLst>
            </a:custGeom>
            <a:solidFill>
              <a:srgbClr val="0A4C4C"/>
            </a:solidFill>
          </p:spPr>
        </p:sp>
        <p:sp>
          <p:nvSpPr>
            <p:cNvPr id="14" name="TextBox 14"/>
            <p:cNvSpPr txBox="1"/>
            <p:nvPr/>
          </p:nvSpPr>
          <p:spPr>
            <a:xfrm>
              <a:off x="0" y="-38100"/>
              <a:ext cx="3566765" cy="12090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070318" y="-128588"/>
            <a:ext cx="2917270" cy="2812786"/>
            <a:chOff x="0" y="0"/>
            <a:chExt cx="633931" cy="611226"/>
          </a:xfrm>
        </p:grpSpPr>
        <p:sp>
          <p:nvSpPr>
            <p:cNvPr id="16" name="Freeform 16"/>
            <p:cNvSpPr/>
            <p:nvPr/>
          </p:nvSpPr>
          <p:spPr>
            <a:xfrm>
              <a:off x="0" y="0"/>
              <a:ext cx="633931" cy="611226"/>
            </a:xfrm>
            <a:custGeom>
              <a:avLst/>
              <a:gdLst/>
              <a:ahLst/>
              <a:cxnLst/>
              <a:rect l="l" t="t" r="r" b="b"/>
              <a:pathLst>
                <a:path w="633931" h="611226">
                  <a:moveTo>
                    <a:pt x="203200" y="0"/>
                  </a:moveTo>
                  <a:lnTo>
                    <a:pt x="633931" y="0"/>
                  </a:lnTo>
                  <a:lnTo>
                    <a:pt x="430731" y="611226"/>
                  </a:lnTo>
                  <a:lnTo>
                    <a:pt x="0" y="611226"/>
                  </a:lnTo>
                  <a:lnTo>
                    <a:pt x="203200" y="0"/>
                  </a:lnTo>
                  <a:close/>
                </a:path>
              </a:pathLst>
            </a:custGeom>
            <a:solidFill>
              <a:srgbClr val="158E8F"/>
            </a:solidFill>
          </p:spPr>
        </p:sp>
        <p:sp>
          <p:nvSpPr>
            <p:cNvPr id="17" name="TextBox 17"/>
            <p:cNvSpPr txBox="1"/>
            <p:nvPr/>
          </p:nvSpPr>
          <p:spPr>
            <a:xfrm>
              <a:off x="101600" y="-38100"/>
              <a:ext cx="430731" cy="6493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973670" y="9604756"/>
            <a:ext cx="1543050" cy="682244"/>
            <a:chOff x="0" y="0"/>
            <a:chExt cx="406400" cy="179686"/>
          </a:xfrm>
        </p:grpSpPr>
        <p:sp>
          <p:nvSpPr>
            <p:cNvPr id="19" name="Freeform 19"/>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0" name="TextBox 20"/>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39709" y="9604756"/>
            <a:ext cx="1543050" cy="682244"/>
            <a:chOff x="0" y="0"/>
            <a:chExt cx="406400" cy="179686"/>
          </a:xfrm>
        </p:grpSpPr>
        <p:sp>
          <p:nvSpPr>
            <p:cNvPr id="22" name="Freeform 22"/>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3" name="TextBox 23"/>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105748" y="9604756"/>
            <a:ext cx="1543050" cy="682244"/>
            <a:chOff x="0" y="0"/>
            <a:chExt cx="406400" cy="179686"/>
          </a:xfrm>
        </p:grpSpPr>
        <p:sp>
          <p:nvSpPr>
            <p:cNvPr id="25" name="Freeform 25"/>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0A4C4C"/>
            </a:solidFill>
          </p:spPr>
        </p:sp>
        <p:sp>
          <p:nvSpPr>
            <p:cNvPr id="26" name="TextBox 26"/>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0" y="9604756"/>
            <a:ext cx="498703" cy="682244"/>
            <a:chOff x="0" y="0"/>
            <a:chExt cx="406400" cy="555970"/>
          </a:xfrm>
        </p:grpSpPr>
        <p:sp>
          <p:nvSpPr>
            <p:cNvPr id="28" name="Freeform 28"/>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29" name="TextBox 29"/>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529997" y="9604756"/>
            <a:ext cx="498703" cy="682244"/>
            <a:chOff x="0" y="0"/>
            <a:chExt cx="406400" cy="555970"/>
          </a:xfrm>
        </p:grpSpPr>
        <p:sp>
          <p:nvSpPr>
            <p:cNvPr id="31" name="Freeform 31"/>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32" name="TextBox 32"/>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3344510" y="9258300"/>
            <a:ext cx="2326640" cy="1028700"/>
            <a:chOff x="0" y="0"/>
            <a:chExt cx="406400" cy="179686"/>
          </a:xfrm>
        </p:grpSpPr>
        <p:sp>
          <p:nvSpPr>
            <p:cNvPr id="34" name="Freeform 34"/>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158E8F"/>
            </a:solidFill>
          </p:spPr>
        </p:sp>
        <p:sp>
          <p:nvSpPr>
            <p:cNvPr id="35" name="TextBox 35"/>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6781735" y="-796920"/>
            <a:ext cx="1464533" cy="170418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7022668" y="-516562"/>
            <a:ext cx="982667" cy="1143467"/>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369904" y="626905"/>
            <a:ext cx="823662" cy="958443"/>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6505406" y="784580"/>
            <a:ext cx="552658" cy="643092"/>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505514" y="1275719"/>
            <a:ext cx="2674083" cy="3111660"/>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793523" y="1610857"/>
            <a:ext cx="2098064" cy="24413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38679" y="2012493"/>
            <a:ext cx="1407751" cy="1638110"/>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57" name="Freeform 57"/>
          <p:cNvSpPr/>
          <p:nvPr/>
        </p:nvSpPr>
        <p:spPr>
          <a:xfrm>
            <a:off x="11597815" y="3324257"/>
            <a:ext cx="4343839" cy="4114800"/>
          </a:xfrm>
          <a:custGeom>
            <a:avLst/>
            <a:gdLst/>
            <a:ahLst/>
            <a:cxnLst/>
            <a:rect l="l" t="t" r="r" b="b"/>
            <a:pathLst>
              <a:path w="4343839" h="4114800">
                <a:moveTo>
                  <a:pt x="0" y="0"/>
                </a:moveTo>
                <a:lnTo>
                  <a:pt x="4343839" y="0"/>
                </a:lnTo>
                <a:lnTo>
                  <a:pt x="4343839"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8" name="TextBox 58"/>
          <p:cNvSpPr txBox="1"/>
          <p:nvPr/>
        </p:nvSpPr>
        <p:spPr>
          <a:xfrm>
            <a:off x="1738854" y="3835311"/>
            <a:ext cx="8925293" cy="4271912"/>
          </a:xfrm>
          <a:prstGeom prst="rect">
            <a:avLst/>
          </a:prstGeom>
        </p:spPr>
        <p:txBody>
          <a:bodyPr lIns="0" tIns="0" rIns="0" bIns="0" rtlCol="0" anchor="t">
            <a:spAutoFit/>
          </a:bodyPr>
          <a:lstStyle/>
          <a:p>
            <a:pPr marL="578712" lvl="1" indent="-289356" algn="l">
              <a:lnSpc>
                <a:spcPts val="3779"/>
              </a:lnSpc>
              <a:buFont typeface="Arial"/>
              <a:buChar char="•"/>
            </a:pPr>
            <a:r>
              <a:rPr lang="en-US" sz="2680">
                <a:solidFill>
                  <a:srgbClr val="000000"/>
                </a:solidFill>
                <a:latin typeface="Proxima Nova"/>
                <a:ea typeface="Proxima Nova"/>
                <a:cs typeface="Proxima Nova"/>
                <a:sym typeface="Proxima Nova"/>
              </a:rPr>
              <a:t>Fraudulent transactions are rare but highly impactful</a:t>
            </a:r>
          </a:p>
          <a:p>
            <a:pPr marL="578712" lvl="1" indent="-289356" algn="l">
              <a:lnSpc>
                <a:spcPts val="3779"/>
              </a:lnSpc>
              <a:buFont typeface="Arial"/>
              <a:buChar char="•"/>
            </a:pPr>
            <a:r>
              <a:rPr lang="en-US" sz="2680">
                <a:solidFill>
                  <a:srgbClr val="000000"/>
                </a:solidFill>
                <a:latin typeface="Proxima Nova"/>
                <a:ea typeface="Proxima Nova"/>
                <a:cs typeface="Proxima Nova"/>
                <a:sym typeface="Proxima Nova"/>
              </a:rPr>
              <a:t>Difficult to detect due to large volume of transactions</a:t>
            </a:r>
          </a:p>
          <a:p>
            <a:pPr marL="578712" lvl="1" indent="-289356" algn="l">
              <a:lnSpc>
                <a:spcPts val="3779"/>
              </a:lnSpc>
              <a:buFont typeface="Arial"/>
              <a:buChar char="•"/>
            </a:pPr>
            <a:r>
              <a:rPr lang="en-US" sz="2680">
                <a:solidFill>
                  <a:srgbClr val="000000"/>
                </a:solidFill>
                <a:latin typeface="Proxima Nova"/>
                <a:ea typeface="Proxima Nova"/>
                <a:cs typeface="Proxima Nova"/>
                <a:sym typeface="Proxima Nova"/>
              </a:rPr>
              <a:t>Fraudsters continuously evolve their techniques</a:t>
            </a:r>
          </a:p>
          <a:p>
            <a:pPr marL="578712" lvl="1" indent="-289356" algn="l">
              <a:lnSpc>
                <a:spcPts val="3779"/>
              </a:lnSpc>
              <a:buFont typeface="Arial"/>
              <a:buChar char="•"/>
            </a:pPr>
            <a:r>
              <a:rPr lang="en-US" sz="2680">
                <a:solidFill>
                  <a:srgbClr val="000000"/>
                </a:solidFill>
                <a:latin typeface="Proxima Nova"/>
                <a:ea typeface="Proxima Nova"/>
                <a:cs typeface="Proxima Nova"/>
                <a:sym typeface="Proxima Nova"/>
              </a:rPr>
              <a:t>Need for accurate and fast detection system</a:t>
            </a:r>
          </a:p>
          <a:p>
            <a:pPr algn="l">
              <a:lnSpc>
                <a:spcPts val="3779"/>
              </a:lnSpc>
            </a:pPr>
            <a:endParaRPr lang="en-US" sz="2680">
              <a:solidFill>
                <a:srgbClr val="000000"/>
              </a:solidFill>
              <a:latin typeface="Proxima Nova"/>
              <a:ea typeface="Proxima Nova"/>
              <a:cs typeface="Proxima Nova"/>
              <a:sym typeface="Proxima Nova"/>
            </a:endParaRPr>
          </a:p>
          <a:p>
            <a:pPr algn="l">
              <a:lnSpc>
                <a:spcPts val="3779"/>
              </a:lnSpc>
            </a:pPr>
            <a:r>
              <a:rPr lang="en-US" sz="2680" b="1">
                <a:solidFill>
                  <a:srgbClr val="000000"/>
                </a:solidFill>
                <a:latin typeface="Proxima Nova Bold"/>
                <a:ea typeface="Proxima Nova Bold"/>
                <a:cs typeface="Proxima Nova Bold"/>
                <a:sym typeface="Proxima Nova Bold"/>
              </a:rPr>
              <a:t>Objective:</a:t>
            </a:r>
          </a:p>
          <a:p>
            <a:pPr algn="l">
              <a:lnSpc>
                <a:spcPts val="3779"/>
              </a:lnSpc>
            </a:pPr>
            <a:r>
              <a:rPr lang="en-US" sz="2680">
                <a:solidFill>
                  <a:srgbClr val="000000"/>
                </a:solidFill>
                <a:latin typeface="Proxima Nova"/>
                <a:ea typeface="Proxima Nova"/>
                <a:cs typeface="Proxima Nova"/>
                <a:sym typeface="Proxima Nova"/>
              </a:rPr>
              <a:t> To analyze transaction data and identify key indicators (KPIs) that help in detecting fraud effectively.</a:t>
            </a:r>
          </a:p>
          <a:p>
            <a:pPr algn="l">
              <a:lnSpc>
                <a:spcPts val="3779"/>
              </a:lnSpc>
            </a:pPr>
            <a:endParaRPr lang="en-US" sz="2680">
              <a:solidFill>
                <a:srgbClr val="000000"/>
              </a:solidFill>
              <a:latin typeface="Proxima Nova"/>
              <a:ea typeface="Proxima Nova"/>
              <a:cs typeface="Proxima Nova"/>
              <a:sym typeface="Proxima Nova"/>
            </a:endParaRPr>
          </a:p>
        </p:txBody>
      </p:sp>
      <p:sp>
        <p:nvSpPr>
          <p:cNvPr id="59" name="Freeform 59"/>
          <p:cNvSpPr/>
          <p:nvPr/>
        </p:nvSpPr>
        <p:spPr>
          <a:xfrm>
            <a:off x="14501418" y="4986405"/>
            <a:ext cx="2521250" cy="4114800"/>
          </a:xfrm>
          <a:custGeom>
            <a:avLst/>
            <a:gdLst/>
            <a:ahLst/>
            <a:cxnLst/>
            <a:rect l="l" t="t" r="r" b="b"/>
            <a:pathLst>
              <a:path w="2521250" h="4114800">
                <a:moveTo>
                  <a:pt x="0" y="0"/>
                </a:moveTo>
                <a:lnTo>
                  <a:pt x="2521250" y="0"/>
                </a:lnTo>
                <a:lnTo>
                  <a:pt x="252125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0" name="TextBox 60"/>
          <p:cNvSpPr txBox="1"/>
          <p:nvPr/>
        </p:nvSpPr>
        <p:spPr>
          <a:xfrm>
            <a:off x="6035702" y="665005"/>
            <a:ext cx="7744770" cy="602456"/>
          </a:xfrm>
          <a:prstGeom prst="rect">
            <a:avLst/>
          </a:prstGeom>
        </p:spPr>
        <p:txBody>
          <a:bodyPr lIns="0" tIns="0" rIns="0" bIns="0" rtlCol="0" anchor="t">
            <a:spAutoFit/>
          </a:bodyPr>
          <a:lstStyle/>
          <a:p>
            <a:pPr algn="ctr">
              <a:lnSpc>
                <a:spcPts val="4644"/>
              </a:lnSpc>
            </a:pPr>
            <a:r>
              <a:rPr lang="en-US" sz="4261" b="1">
                <a:solidFill>
                  <a:srgbClr val="FFFFFF"/>
                </a:solidFill>
                <a:latin typeface="Tomorrow Bold"/>
                <a:ea typeface="Tomorrow Bold"/>
                <a:cs typeface="Tomorrow Bold"/>
                <a:sym typeface="Tomorrow Bold"/>
              </a:rPr>
              <a:t>Problem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5441" y="1707214"/>
            <a:ext cx="13542559" cy="546693"/>
            <a:chOff x="0" y="0"/>
            <a:chExt cx="3566765" cy="143985"/>
          </a:xfrm>
        </p:grpSpPr>
        <p:sp>
          <p:nvSpPr>
            <p:cNvPr id="3" name="Freeform 3"/>
            <p:cNvSpPr/>
            <p:nvPr/>
          </p:nvSpPr>
          <p:spPr>
            <a:xfrm>
              <a:off x="0" y="0"/>
              <a:ext cx="3566764" cy="143985"/>
            </a:xfrm>
            <a:custGeom>
              <a:avLst/>
              <a:gdLst/>
              <a:ahLst/>
              <a:cxnLst/>
              <a:rect l="l" t="t" r="r" b="b"/>
              <a:pathLst>
                <a:path w="3566764" h="143985">
                  <a:moveTo>
                    <a:pt x="0" y="0"/>
                  </a:moveTo>
                  <a:lnTo>
                    <a:pt x="3566764" y="0"/>
                  </a:lnTo>
                  <a:lnTo>
                    <a:pt x="3566764" y="143985"/>
                  </a:lnTo>
                  <a:lnTo>
                    <a:pt x="0" y="143985"/>
                  </a:lnTo>
                  <a:close/>
                </a:path>
              </a:pathLst>
            </a:custGeom>
            <a:solidFill>
              <a:srgbClr val="0A4C4C"/>
            </a:solidFill>
          </p:spPr>
        </p:sp>
        <p:sp>
          <p:nvSpPr>
            <p:cNvPr id="4" name="TextBox 4"/>
            <p:cNvSpPr txBox="1"/>
            <p:nvPr/>
          </p:nvSpPr>
          <p:spPr>
            <a:xfrm>
              <a:off x="0" y="-38100"/>
              <a:ext cx="3566765" cy="18208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6614228" flipH="1">
            <a:off x="4278075" y="1183473"/>
            <a:ext cx="1888611" cy="1864574"/>
          </a:xfrm>
          <a:custGeom>
            <a:avLst/>
            <a:gdLst/>
            <a:ahLst/>
            <a:cxnLst/>
            <a:rect l="l" t="t" r="r" b="b"/>
            <a:pathLst>
              <a:path w="1888611" h="1864574">
                <a:moveTo>
                  <a:pt x="1888611" y="0"/>
                </a:moveTo>
                <a:lnTo>
                  <a:pt x="0" y="0"/>
                </a:lnTo>
                <a:lnTo>
                  <a:pt x="0" y="1864574"/>
                </a:lnTo>
                <a:lnTo>
                  <a:pt x="1888611" y="1864574"/>
                </a:lnTo>
                <a:lnTo>
                  <a:pt x="1888611"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128588"/>
            <a:ext cx="18234675" cy="2012445"/>
            <a:chOff x="0" y="0"/>
            <a:chExt cx="4802548" cy="530027"/>
          </a:xfrm>
        </p:grpSpPr>
        <p:sp>
          <p:nvSpPr>
            <p:cNvPr id="7" name="Freeform 7"/>
            <p:cNvSpPr/>
            <p:nvPr/>
          </p:nvSpPr>
          <p:spPr>
            <a:xfrm>
              <a:off x="0" y="0"/>
              <a:ext cx="4802548" cy="530027"/>
            </a:xfrm>
            <a:custGeom>
              <a:avLst/>
              <a:gdLst/>
              <a:ahLst/>
              <a:cxnLst/>
              <a:rect l="l" t="t" r="r" b="b"/>
              <a:pathLst>
                <a:path w="4802548" h="530027">
                  <a:moveTo>
                    <a:pt x="203200" y="0"/>
                  </a:moveTo>
                  <a:lnTo>
                    <a:pt x="4802548" y="0"/>
                  </a:lnTo>
                  <a:lnTo>
                    <a:pt x="4599348" y="530027"/>
                  </a:lnTo>
                  <a:lnTo>
                    <a:pt x="0" y="530027"/>
                  </a:lnTo>
                  <a:lnTo>
                    <a:pt x="203200" y="0"/>
                  </a:lnTo>
                  <a:close/>
                </a:path>
              </a:pathLst>
            </a:custGeom>
            <a:solidFill>
              <a:srgbClr val="41B3AF"/>
            </a:solidFill>
          </p:spPr>
        </p:sp>
        <p:sp>
          <p:nvSpPr>
            <p:cNvPr id="8" name="TextBox 8"/>
            <p:cNvSpPr txBox="1"/>
            <p:nvPr/>
          </p:nvSpPr>
          <p:spPr>
            <a:xfrm>
              <a:off x="101600" y="-38100"/>
              <a:ext cx="4599348" cy="56812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96172" y="9604756"/>
            <a:ext cx="11255645" cy="682244"/>
            <a:chOff x="0" y="0"/>
            <a:chExt cx="2964450" cy="179686"/>
          </a:xfrm>
        </p:grpSpPr>
        <p:sp>
          <p:nvSpPr>
            <p:cNvPr id="10" name="Freeform 10"/>
            <p:cNvSpPr/>
            <p:nvPr/>
          </p:nvSpPr>
          <p:spPr>
            <a:xfrm>
              <a:off x="0" y="0"/>
              <a:ext cx="2964450" cy="179686"/>
            </a:xfrm>
            <a:custGeom>
              <a:avLst/>
              <a:gdLst/>
              <a:ahLst/>
              <a:cxnLst/>
              <a:rect l="l" t="t" r="r" b="b"/>
              <a:pathLst>
                <a:path w="2964450" h="179686">
                  <a:moveTo>
                    <a:pt x="203200" y="0"/>
                  </a:moveTo>
                  <a:lnTo>
                    <a:pt x="2964450" y="0"/>
                  </a:lnTo>
                  <a:lnTo>
                    <a:pt x="2761250" y="179686"/>
                  </a:lnTo>
                  <a:lnTo>
                    <a:pt x="0" y="179686"/>
                  </a:lnTo>
                  <a:lnTo>
                    <a:pt x="203200" y="0"/>
                  </a:lnTo>
                  <a:close/>
                </a:path>
              </a:pathLst>
            </a:custGeom>
            <a:solidFill>
              <a:srgbClr val="41B3AF"/>
            </a:solidFill>
          </p:spPr>
        </p:sp>
        <p:sp>
          <p:nvSpPr>
            <p:cNvPr id="11" name="TextBox 11"/>
            <p:cNvSpPr txBox="1"/>
            <p:nvPr/>
          </p:nvSpPr>
          <p:spPr>
            <a:xfrm>
              <a:off x="101600" y="-38100"/>
              <a:ext cx="276125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745441" y="-78662"/>
            <a:ext cx="13542559" cy="314384"/>
            <a:chOff x="0" y="0"/>
            <a:chExt cx="3566765" cy="82801"/>
          </a:xfrm>
        </p:grpSpPr>
        <p:sp>
          <p:nvSpPr>
            <p:cNvPr id="13" name="Freeform 13"/>
            <p:cNvSpPr/>
            <p:nvPr/>
          </p:nvSpPr>
          <p:spPr>
            <a:xfrm>
              <a:off x="0" y="0"/>
              <a:ext cx="3566764" cy="82801"/>
            </a:xfrm>
            <a:custGeom>
              <a:avLst/>
              <a:gdLst/>
              <a:ahLst/>
              <a:cxnLst/>
              <a:rect l="l" t="t" r="r" b="b"/>
              <a:pathLst>
                <a:path w="3566764" h="82801">
                  <a:moveTo>
                    <a:pt x="0" y="0"/>
                  </a:moveTo>
                  <a:lnTo>
                    <a:pt x="3566764" y="0"/>
                  </a:lnTo>
                  <a:lnTo>
                    <a:pt x="3566764" y="82801"/>
                  </a:lnTo>
                  <a:lnTo>
                    <a:pt x="0" y="82801"/>
                  </a:lnTo>
                  <a:close/>
                </a:path>
              </a:pathLst>
            </a:custGeom>
            <a:solidFill>
              <a:srgbClr val="0A4C4C"/>
            </a:solidFill>
          </p:spPr>
        </p:sp>
        <p:sp>
          <p:nvSpPr>
            <p:cNvPr id="14" name="TextBox 14"/>
            <p:cNvSpPr txBox="1"/>
            <p:nvPr/>
          </p:nvSpPr>
          <p:spPr>
            <a:xfrm>
              <a:off x="0" y="-38100"/>
              <a:ext cx="3566765" cy="12090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070318" y="-128588"/>
            <a:ext cx="2917270" cy="2812786"/>
            <a:chOff x="0" y="0"/>
            <a:chExt cx="633931" cy="611226"/>
          </a:xfrm>
        </p:grpSpPr>
        <p:sp>
          <p:nvSpPr>
            <p:cNvPr id="16" name="Freeform 16"/>
            <p:cNvSpPr/>
            <p:nvPr/>
          </p:nvSpPr>
          <p:spPr>
            <a:xfrm>
              <a:off x="0" y="0"/>
              <a:ext cx="633931" cy="611226"/>
            </a:xfrm>
            <a:custGeom>
              <a:avLst/>
              <a:gdLst/>
              <a:ahLst/>
              <a:cxnLst/>
              <a:rect l="l" t="t" r="r" b="b"/>
              <a:pathLst>
                <a:path w="633931" h="611226">
                  <a:moveTo>
                    <a:pt x="203200" y="0"/>
                  </a:moveTo>
                  <a:lnTo>
                    <a:pt x="633931" y="0"/>
                  </a:lnTo>
                  <a:lnTo>
                    <a:pt x="430731" y="611226"/>
                  </a:lnTo>
                  <a:lnTo>
                    <a:pt x="0" y="611226"/>
                  </a:lnTo>
                  <a:lnTo>
                    <a:pt x="203200" y="0"/>
                  </a:lnTo>
                  <a:close/>
                </a:path>
              </a:pathLst>
            </a:custGeom>
            <a:solidFill>
              <a:srgbClr val="158E8F"/>
            </a:solidFill>
          </p:spPr>
        </p:sp>
        <p:sp>
          <p:nvSpPr>
            <p:cNvPr id="17" name="TextBox 17"/>
            <p:cNvSpPr txBox="1"/>
            <p:nvPr/>
          </p:nvSpPr>
          <p:spPr>
            <a:xfrm>
              <a:off x="101600" y="-38100"/>
              <a:ext cx="430731" cy="6493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973670" y="9604756"/>
            <a:ext cx="1543050" cy="682244"/>
            <a:chOff x="0" y="0"/>
            <a:chExt cx="406400" cy="179686"/>
          </a:xfrm>
        </p:grpSpPr>
        <p:sp>
          <p:nvSpPr>
            <p:cNvPr id="19" name="Freeform 19"/>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0" name="TextBox 20"/>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39709" y="9604756"/>
            <a:ext cx="1543050" cy="682244"/>
            <a:chOff x="0" y="0"/>
            <a:chExt cx="406400" cy="179686"/>
          </a:xfrm>
        </p:grpSpPr>
        <p:sp>
          <p:nvSpPr>
            <p:cNvPr id="22" name="Freeform 22"/>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3" name="TextBox 23"/>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105748" y="9604756"/>
            <a:ext cx="1543050" cy="682244"/>
            <a:chOff x="0" y="0"/>
            <a:chExt cx="406400" cy="179686"/>
          </a:xfrm>
        </p:grpSpPr>
        <p:sp>
          <p:nvSpPr>
            <p:cNvPr id="25" name="Freeform 25"/>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0A4C4C"/>
            </a:solidFill>
          </p:spPr>
        </p:sp>
        <p:sp>
          <p:nvSpPr>
            <p:cNvPr id="26" name="TextBox 26"/>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0" y="9604756"/>
            <a:ext cx="498703" cy="682244"/>
            <a:chOff x="0" y="0"/>
            <a:chExt cx="406400" cy="555970"/>
          </a:xfrm>
        </p:grpSpPr>
        <p:sp>
          <p:nvSpPr>
            <p:cNvPr id="28" name="Freeform 28"/>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29" name="TextBox 29"/>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529997" y="9604756"/>
            <a:ext cx="498703" cy="682244"/>
            <a:chOff x="0" y="0"/>
            <a:chExt cx="406400" cy="555970"/>
          </a:xfrm>
        </p:grpSpPr>
        <p:sp>
          <p:nvSpPr>
            <p:cNvPr id="31" name="Freeform 31"/>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32" name="TextBox 32"/>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3344510" y="9258300"/>
            <a:ext cx="2326640" cy="1028700"/>
            <a:chOff x="0" y="0"/>
            <a:chExt cx="406400" cy="179686"/>
          </a:xfrm>
        </p:grpSpPr>
        <p:sp>
          <p:nvSpPr>
            <p:cNvPr id="34" name="Freeform 34"/>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158E8F"/>
            </a:solidFill>
          </p:spPr>
        </p:sp>
        <p:sp>
          <p:nvSpPr>
            <p:cNvPr id="35" name="TextBox 35"/>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6781735" y="-796920"/>
            <a:ext cx="1464533" cy="170418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7022668" y="-516562"/>
            <a:ext cx="982667" cy="1143467"/>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369904" y="626905"/>
            <a:ext cx="823662" cy="958443"/>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6505406" y="784580"/>
            <a:ext cx="552658" cy="643092"/>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505514" y="1275719"/>
            <a:ext cx="2674083" cy="3111660"/>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793523" y="1610857"/>
            <a:ext cx="2098064" cy="24413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38679" y="2012493"/>
            <a:ext cx="1407751" cy="1638110"/>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57" name="Freeform 57"/>
          <p:cNvSpPr/>
          <p:nvPr/>
        </p:nvSpPr>
        <p:spPr>
          <a:xfrm>
            <a:off x="1028700" y="3515593"/>
            <a:ext cx="4962862" cy="3058927"/>
          </a:xfrm>
          <a:custGeom>
            <a:avLst/>
            <a:gdLst/>
            <a:ahLst/>
            <a:cxnLst/>
            <a:rect l="l" t="t" r="r" b="b"/>
            <a:pathLst>
              <a:path w="4962862" h="3058927">
                <a:moveTo>
                  <a:pt x="0" y="0"/>
                </a:moveTo>
                <a:lnTo>
                  <a:pt x="4962862" y="0"/>
                </a:lnTo>
                <a:lnTo>
                  <a:pt x="4962862" y="3058927"/>
                </a:lnTo>
                <a:lnTo>
                  <a:pt x="0" y="305892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8" name="Freeform 58"/>
          <p:cNvSpPr/>
          <p:nvPr/>
        </p:nvSpPr>
        <p:spPr>
          <a:xfrm>
            <a:off x="1917555" y="5338395"/>
            <a:ext cx="3185151" cy="3434967"/>
          </a:xfrm>
          <a:custGeom>
            <a:avLst/>
            <a:gdLst/>
            <a:ahLst/>
            <a:cxnLst/>
            <a:rect l="l" t="t" r="r" b="b"/>
            <a:pathLst>
              <a:path w="3185151" h="3434967">
                <a:moveTo>
                  <a:pt x="0" y="0"/>
                </a:moveTo>
                <a:lnTo>
                  <a:pt x="3185151" y="0"/>
                </a:lnTo>
                <a:lnTo>
                  <a:pt x="3185151" y="3434966"/>
                </a:lnTo>
                <a:lnTo>
                  <a:pt x="0" y="343496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9" name="TextBox 59"/>
          <p:cNvSpPr txBox="1"/>
          <p:nvPr/>
        </p:nvSpPr>
        <p:spPr>
          <a:xfrm>
            <a:off x="6788239" y="3267107"/>
            <a:ext cx="9581665" cy="5224811"/>
          </a:xfrm>
          <a:prstGeom prst="rect">
            <a:avLst/>
          </a:prstGeom>
        </p:spPr>
        <p:txBody>
          <a:bodyPr lIns="0" tIns="0" rIns="0" bIns="0" rtlCol="0" anchor="t">
            <a:spAutoFit/>
          </a:bodyPr>
          <a:lstStyle/>
          <a:p>
            <a:pPr algn="l">
              <a:lnSpc>
                <a:spcPts val="3758"/>
              </a:lnSpc>
            </a:pPr>
            <a:endParaRPr/>
          </a:p>
          <a:p>
            <a:pPr marL="575481" lvl="1" indent="-287741" algn="l">
              <a:lnSpc>
                <a:spcPts val="3758"/>
              </a:lnSpc>
              <a:buFont typeface="Arial"/>
              <a:buChar char="•"/>
            </a:pPr>
            <a:r>
              <a:rPr lang="en-US" sz="2665" b="1">
                <a:solidFill>
                  <a:srgbClr val="000000"/>
                </a:solidFill>
                <a:latin typeface="Proxima Nova Bold"/>
                <a:ea typeface="Proxima Nova Bold"/>
                <a:cs typeface="Proxima Nova Bold"/>
                <a:sym typeface="Proxima Nova Bold"/>
              </a:rPr>
              <a:t>Source:</a:t>
            </a:r>
            <a:r>
              <a:rPr lang="en-US" sz="2665">
                <a:solidFill>
                  <a:srgbClr val="000000"/>
                </a:solidFill>
                <a:latin typeface="Proxima Nova"/>
                <a:ea typeface="Proxima Nova"/>
                <a:cs typeface="Proxima Nova"/>
                <a:sym typeface="Proxima Nova"/>
              </a:rPr>
              <a:t> Kaggle</a:t>
            </a:r>
          </a:p>
          <a:p>
            <a:pPr marL="575481" lvl="1" indent="-287741" algn="l">
              <a:lnSpc>
                <a:spcPts val="3758"/>
              </a:lnSpc>
              <a:buFont typeface="Arial"/>
              <a:buChar char="•"/>
            </a:pPr>
            <a:r>
              <a:rPr lang="en-US" sz="2665" b="1">
                <a:solidFill>
                  <a:srgbClr val="000000"/>
                </a:solidFill>
                <a:latin typeface="Proxima Nova Bold"/>
                <a:ea typeface="Proxima Nova Bold"/>
                <a:cs typeface="Proxima Nova Bold"/>
                <a:sym typeface="Proxima Nova Bold"/>
              </a:rPr>
              <a:t>Total Transactions:</a:t>
            </a:r>
            <a:r>
              <a:rPr lang="en-US" sz="2665">
                <a:solidFill>
                  <a:srgbClr val="000000"/>
                </a:solidFill>
                <a:latin typeface="Proxima Nova"/>
                <a:ea typeface="Proxima Nova"/>
                <a:cs typeface="Proxima Nova"/>
                <a:sym typeface="Proxima Nova"/>
              </a:rPr>
              <a:t> Approx 2 lakh +</a:t>
            </a:r>
          </a:p>
          <a:p>
            <a:pPr marL="575481" lvl="1" indent="-287741" algn="l">
              <a:lnSpc>
                <a:spcPts val="3758"/>
              </a:lnSpc>
              <a:buFont typeface="Arial"/>
              <a:buChar char="•"/>
            </a:pPr>
            <a:r>
              <a:rPr lang="en-US" sz="2665" b="1">
                <a:solidFill>
                  <a:srgbClr val="000000"/>
                </a:solidFill>
                <a:latin typeface="Proxima Nova Bold"/>
                <a:ea typeface="Proxima Nova Bold"/>
                <a:cs typeface="Proxima Nova Bold"/>
                <a:sym typeface="Proxima Nova Bold"/>
              </a:rPr>
              <a:t>Features:</a:t>
            </a:r>
          </a:p>
          <a:p>
            <a:pPr marL="1150963" lvl="2" indent="-383654" algn="l">
              <a:lnSpc>
                <a:spcPts val="3758"/>
              </a:lnSpc>
              <a:buFont typeface="Arial"/>
              <a:buChar char="⚬"/>
            </a:pPr>
            <a:r>
              <a:rPr lang="en-US" sz="2665">
                <a:solidFill>
                  <a:srgbClr val="000000"/>
                </a:solidFill>
                <a:latin typeface="Proxima Nova"/>
                <a:ea typeface="Proxima Nova"/>
                <a:cs typeface="Proxima Nova"/>
                <a:sym typeface="Proxima Nova"/>
              </a:rPr>
              <a:t>Transaction Amount</a:t>
            </a:r>
          </a:p>
          <a:p>
            <a:pPr marL="1150963" lvl="2" indent="-383654" algn="l">
              <a:lnSpc>
                <a:spcPts val="3758"/>
              </a:lnSpc>
              <a:buFont typeface="Arial"/>
              <a:buChar char="⚬"/>
            </a:pPr>
            <a:r>
              <a:rPr lang="en-US" sz="2665">
                <a:solidFill>
                  <a:srgbClr val="000000"/>
                </a:solidFill>
                <a:latin typeface="Proxima Nova"/>
                <a:ea typeface="Proxima Nova"/>
                <a:cs typeface="Proxima Nova"/>
                <a:sym typeface="Proxima Nova"/>
              </a:rPr>
              <a:t>Time</a:t>
            </a:r>
          </a:p>
          <a:p>
            <a:pPr marL="1150963" lvl="2" indent="-383654" algn="l">
              <a:lnSpc>
                <a:spcPts val="3758"/>
              </a:lnSpc>
              <a:buFont typeface="Arial"/>
              <a:buChar char="⚬"/>
            </a:pPr>
            <a:r>
              <a:rPr lang="en-US" sz="2665">
                <a:solidFill>
                  <a:srgbClr val="000000"/>
                </a:solidFill>
                <a:latin typeface="Proxima Nova"/>
                <a:ea typeface="Proxima Nova"/>
                <a:cs typeface="Proxima Nova"/>
                <a:sym typeface="Proxima Nova"/>
              </a:rPr>
              <a:t>Transaction Type</a:t>
            </a:r>
          </a:p>
          <a:p>
            <a:pPr marL="1150963" lvl="2" indent="-383654" algn="l">
              <a:lnSpc>
                <a:spcPts val="3758"/>
              </a:lnSpc>
              <a:buFont typeface="Arial"/>
              <a:buChar char="⚬"/>
            </a:pPr>
            <a:r>
              <a:rPr lang="en-US" sz="2665">
                <a:solidFill>
                  <a:srgbClr val="000000"/>
                </a:solidFill>
                <a:latin typeface="Proxima Nova"/>
                <a:ea typeface="Proxima Nova"/>
                <a:cs typeface="Proxima Nova"/>
                <a:sym typeface="Proxima Nova"/>
              </a:rPr>
              <a:t>Class (Fraud / Non-Fraud)</a:t>
            </a:r>
          </a:p>
          <a:p>
            <a:pPr algn="l">
              <a:lnSpc>
                <a:spcPts val="3758"/>
              </a:lnSpc>
            </a:pPr>
            <a:r>
              <a:rPr lang="en-US" sz="2665" b="1">
                <a:solidFill>
                  <a:srgbClr val="000000"/>
                </a:solidFill>
                <a:latin typeface="Proxima Nova Bold"/>
                <a:ea typeface="Proxima Nova Bold"/>
                <a:cs typeface="Proxima Nova Bold"/>
                <a:sym typeface="Proxima Nova Bold"/>
              </a:rPr>
              <a:t>Note: </a:t>
            </a:r>
            <a:r>
              <a:rPr lang="en-US" sz="2665">
                <a:solidFill>
                  <a:srgbClr val="000000"/>
                </a:solidFill>
                <a:latin typeface="Proxima Nova"/>
                <a:ea typeface="Proxima Nova"/>
                <a:cs typeface="Proxima Nova"/>
                <a:sym typeface="Proxima Nova"/>
              </a:rPr>
              <a:t>Dataset is highly imbalanced (fraud cases are very few compared to normal transactions).</a:t>
            </a:r>
          </a:p>
          <a:p>
            <a:pPr algn="l">
              <a:lnSpc>
                <a:spcPts val="3758"/>
              </a:lnSpc>
            </a:pPr>
            <a:endParaRPr lang="en-US" sz="2665">
              <a:solidFill>
                <a:srgbClr val="000000"/>
              </a:solidFill>
              <a:latin typeface="Proxima Nova"/>
              <a:ea typeface="Proxima Nova"/>
              <a:cs typeface="Proxima Nova"/>
              <a:sym typeface="Proxima Nova"/>
            </a:endParaRPr>
          </a:p>
        </p:txBody>
      </p:sp>
      <p:sp>
        <p:nvSpPr>
          <p:cNvPr id="60" name="TextBox 60"/>
          <p:cNvSpPr txBox="1"/>
          <p:nvPr/>
        </p:nvSpPr>
        <p:spPr>
          <a:xfrm>
            <a:off x="6806361" y="744361"/>
            <a:ext cx="7744770" cy="606777"/>
          </a:xfrm>
          <a:prstGeom prst="rect">
            <a:avLst/>
          </a:prstGeom>
        </p:spPr>
        <p:txBody>
          <a:bodyPr lIns="0" tIns="0" rIns="0" bIns="0" rtlCol="0" anchor="t">
            <a:spAutoFit/>
          </a:bodyPr>
          <a:lstStyle/>
          <a:p>
            <a:pPr algn="l">
              <a:lnSpc>
                <a:spcPts val="4644"/>
              </a:lnSpc>
            </a:pPr>
            <a:r>
              <a:rPr lang="en-US" sz="4261" b="1">
                <a:solidFill>
                  <a:srgbClr val="FFFFFF"/>
                </a:solidFill>
                <a:latin typeface="Tomorrow Bold"/>
                <a:ea typeface="Tomorrow Bold"/>
                <a:cs typeface="Tomorrow Bold"/>
                <a:sym typeface="Tomorrow Bold"/>
              </a:rPr>
              <a:t>Dataset Description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5441" y="1707214"/>
            <a:ext cx="13542559" cy="546693"/>
            <a:chOff x="0" y="0"/>
            <a:chExt cx="3566765" cy="143985"/>
          </a:xfrm>
        </p:grpSpPr>
        <p:sp>
          <p:nvSpPr>
            <p:cNvPr id="3" name="Freeform 3"/>
            <p:cNvSpPr/>
            <p:nvPr/>
          </p:nvSpPr>
          <p:spPr>
            <a:xfrm>
              <a:off x="0" y="0"/>
              <a:ext cx="3566764" cy="143985"/>
            </a:xfrm>
            <a:custGeom>
              <a:avLst/>
              <a:gdLst/>
              <a:ahLst/>
              <a:cxnLst/>
              <a:rect l="l" t="t" r="r" b="b"/>
              <a:pathLst>
                <a:path w="3566764" h="143985">
                  <a:moveTo>
                    <a:pt x="0" y="0"/>
                  </a:moveTo>
                  <a:lnTo>
                    <a:pt x="3566764" y="0"/>
                  </a:lnTo>
                  <a:lnTo>
                    <a:pt x="3566764" y="143985"/>
                  </a:lnTo>
                  <a:lnTo>
                    <a:pt x="0" y="143985"/>
                  </a:lnTo>
                  <a:close/>
                </a:path>
              </a:pathLst>
            </a:custGeom>
            <a:solidFill>
              <a:srgbClr val="0A4C4C"/>
            </a:solidFill>
          </p:spPr>
        </p:sp>
        <p:sp>
          <p:nvSpPr>
            <p:cNvPr id="4" name="TextBox 4"/>
            <p:cNvSpPr txBox="1"/>
            <p:nvPr/>
          </p:nvSpPr>
          <p:spPr>
            <a:xfrm>
              <a:off x="0" y="-38100"/>
              <a:ext cx="3566765" cy="18208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6614228" flipH="1">
            <a:off x="4278075" y="1183473"/>
            <a:ext cx="1888611" cy="1864574"/>
          </a:xfrm>
          <a:custGeom>
            <a:avLst/>
            <a:gdLst/>
            <a:ahLst/>
            <a:cxnLst/>
            <a:rect l="l" t="t" r="r" b="b"/>
            <a:pathLst>
              <a:path w="1888611" h="1864574">
                <a:moveTo>
                  <a:pt x="1888611" y="0"/>
                </a:moveTo>
                <a:lnTo>
                  <a:pt x="0" y="0"/>
                </a:lnTo>
                <a:lnTo>
                  <a:pt x="0" y="1864574"/>
                </a:lnTo>
                <a:lnTo>
                  <a:pt x="1888611" y="1864574"/>
                </a:lnTo>
                <a:lnTo>
                  <a:pt x="1888611"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128588"/>
            <a:ext cx="18234675" cy="2012445"/>
            <a:chOff x="0" y="0"/>
            <a:chExt cx="4802548" cy="530027"/>
          </a:xfrm>
        </p:grpSpPr>
        <p:sp>
          <p:nvSpPr>
            <p:cNvPr id="7" name="Freeform 7"/>
            <p:cNvSpPr/>
            <p:nvPr/>
          </p:nvSpPr>
          <p:spPr>
            <a:xfrm>
              <a:off x="0" y="0"/>
              <a:ext cx="4802548" cy="530027"/>
            </a:xfrm>
            <a:custGeom>
              <a:avLst/>
              <a:gdLst/>
              <a:ahLst/>
              <a:cxnLst/>
              <a:rect l="l" t="t" r="r" b="b"/>
              <a:pathLst>
                <a:path w="4802548" h="530027">
                  <a:moveTo>
                    <a:pt x="203200" y="0"/>
                  </a:moveTo>
                  <a:lnTo>
                    <a:pt x="4802548" y="0"/>
                  </a:lnTo>
                  <a:lnTo>
                    <a:pt x="4599348" y="530027"/>
                  </a:lnTo>
                  <a:lnTo>
                    <a:pt x="0" y="530027"/>
                  </a:lnTo>
                  <a:lnTo>
                    <a:pt x="203200" y="0"/>
                  </a:lnTo>
                  <a:close/>
                </a:path>
              </a:pathLst>
            </a:custGeom>
            <a:solidFill>
              <a:srgbClr val="41B3AF"/>
            </a:solidFill>
          </p:spPr>
        </p:sp>
        <p:sp>
          <p:nvSpPr>
            <p:cNvPr id="8" name="TextBox 8"/>
            <p:cNvSpPr txBox="1"/>
            <p:nvPr/>
          </p:nvSpPr>
          <p:spPr>
            <a:xfrm>
              <a:off x="101600" y="-38100"/>
              <a:ext cx="4599348" cy="56812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96172" y="9604756"/>
            <a:ext cx="11255645" cy="682244"/>
            <a:chOff x="0" y="0"/>
            <a:chExt cx="2964450" cy="179686"/>
          </a:xfrm>
        </p:grpSpPr>
        <p:sp>
          <p:nvSpPr>
            <p:cNvPr id="10" name="Freeform 10"/>
            <p:cNvSpPr/>
            <p:nvPr/>
          </p:nvSpPr>
          <p:spPr>
            <a:xfrm>
              <a:off x="0" y="0"/>
              <a:ext cx="2964450" cy="179686"/>
            </a:xfrm>
            <a:custGeom>
              <a:avLst/>
              <a:gdLst/>
              <a:ahLst/>
              <a:cxnLst/>
              <a:rect l="l" t="t" r="r" b="b"/>
              <a:pathLst>
                <a:path w="2964450" h="179686">
                  <a:moveTo>
                    <a:pt x="203200" y="0"/>
                  </a:moveTo>
                  <a:lnTo>
                    <a:pt x="2964450" y="0"/>
                  </a:lnTo>
                  <a:lnTo>
                    <a:pt x="2761250" y="179686"/>
                  </a:lnTo>
                  <a:lnTo>
                    <a:pt x="0" y="179686"/>
                  </a:lnTo>
                  <a:lnTo>
                    <a:pt x="203200" y="0"/>
                  </a:lnTo>
                  <a:close/>
                </a:path>
              </a:pathLst>
            </a:custGeom>
            <a:solidFill>
              <a:srgbClr val="41B3AF"/>
            </a:solidFill>
          </p:spPr>
        </p:sp>
        <p:sp>
          <p:nvSpPr>
            <p:cNvPr id="11" name="TextBox 11"/>
            <p:cNvSpPr txBox="1"/>
            <p:nvPr/>
          </p:nvSpPr>
          <p:spPr>
            <a:xfrm>
              <a:off x="101600" y="-38100"/>
              <a:ext cx="276125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745441" y="-78662"/>
            <a:ext cx="13542559" cy="314384"/>
            <a:chOff x="0" y="0"/>
            <a:chExt cx="3566765" cy="82801"/>
          </a:xfrm>
        </p:grpSpPr>
        <p:sp>
          <p:nvSpPr>
            <p:cNvPr id="13" name="Freeform 13"/>
            <p:cNvSpPr/>
            <p:nvPr/>
          </p:nvSpPr>
          <p:spPr>
            <a:xfrm>
              <a:off x="0" y="0"/>
              <a:ext cx="3566764" cy="82801"/>
            </a:xfrm>
            <a:custGeom>
              <a:avLst/>
              <a:gdLst/>
              <a:ahLst/>
              <a:cxnLst/>
              <a:rect l="l" t="t" r="r" b="b"/>
              <a:pathLst>
                <a:path w="3566764" h="82801">
                  <a:moveTo>
                    <a:pt x="0" y="0"/>
                  </a:moveTo>
                  <a:lnTo>
                    <a:pt x="3566764" y="0"/>
                  </a:lnTo>
                  <a:lnTo>
                    <a:pt x="3566764" y="82801"/>
                  </a:lnTo>
                  <a:lnTo>
                    <a:pt x="0" y="82801"/>
                  </a:lnTo>
                  <a:close/>
                </a:path>
              </a:pathLst>
            </a:custGeom>
            <a:solidFill>
              <a:srgbClr val="0A4C4C"/>
            </a:solidFill>
          </p:spPr>
        </p:sp>
        <p:sp>
          <p:nvSpPr>
            <p:cNvPr id="14" name="TextBox 14"/>
            <p:cNvSpPr txBox="1"/>
            <p:nvPr/>
          </p:nvSpPr>
          <p:spPr>
            <a:xfrm>
              <a:off x="0" y="-38100"/>
              <a:ext cx="3566765" cy="12090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070318" y="-128588"/>
            <a:ext cx="2917270" cy="2812786"/>
            <a:chOff x="0" y="0"/>
            <a:chExt cx="633931" cy="611226"/>
          </a:xfrm>
        </p:grpSpPr>
        <p:sp>
          <p:nvSpPr>
            <p:cNvPr id="16" name="Freeform 16"/>
            <p:cNvSpPr/>
            <p:nvPr/>
          </p:nvSpPr>
          <p:spPr>
            <a:xfrm>
              <a:off x="0" y="0"/>
              <a:ext cx="633931" cy="611226"/>
            </a:xfrm>
            <a:custGeom>
              <a:avLst/>
              <a:gdLst/>
              <a:ahLst/>
              <a:cxnLst/>
              <a:rect l="l" t="t" r="r" b="b"/>
              <a:pathLst>
                <a:path w="633931" h="611226">
                  <a:moveTo>
                    <a:pt x="203200" y="0"/>
                  </a:moveTo>
                  <a:lnTo>
                    <a:pt x="633931" y="0"/>
                  </a:lnTo>
                  <a:lnTo>
                    <a:pt x="430731" y="611226"/>
                  </a:lnTo>
                  <a:lnTo>
                    <a:pt x="0" y="611226"/>
                  </a:lnTo>
                  <a:lnTo>
                    <a:pt x="203200" y="0"/>
                  </a:lnTo>
                  <a:close/>
                </a:path>
              </a:pathLst>
            </a:custGeom>
            <a:solidFill>
              <a:srgbClr val="158E8F"/>
            </a:solidFill>
          </p:spPr>
        </p:sp>
        <p:sp>
          <p:nvSpPr>
            <p:cNvPr id="17" name="TextBox 17"/>
            <p:cNvSpPr txBox="1"/>
            <p:nvPr/>
          </p:nvSpPr>
          <p:spPr>
            <a:xfrm>
              <a:off x="101600" y="-38100"/>
              <a:ext cx="430731" cy="6493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973670" y="9604756"/>
            <a:ext cx="1543050" cy="682244"/>
            <a:chOff x="0" y="0"/>
            <a:chExt cx="406400" cy="179686"/>
          </a:xfrm>
        </p:grpSpPr>
        <p:sp>
          <p:nvSpPr>
            <p:cNvPr id="19" name="Freeform 19"/>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0" name="TextBox 20"/>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39709" y="9604756"/>
            <a:ext cx="1543050" cy="682244"/>
            <a:chOff x="0" y="0"/>
            <a:chExt cx="406400" cy="179686"/>
          </a:xfrm>
        </p:grpSpPr>
        <p:sp>
          <p:nvSpPr>
            <p:cNvPr id="22" name="Freeform 22"/>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3" name="TextBox 23"/>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105748" y="9604756"/>
            <a:ext cx="1543050" cy="682244"/>
            <a:chOff x="0" y="0"/>
            <a:chExt cx="406400" cy="179686"/>
          </a:xfrm>
        </p:grpSpPr>
        <p:sp>
          <p:nvSpPr>
            <p:cNvPr id="25" name="Freeform 25"/>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0A4C4C"/>
            </a:solidFill>
          </p:spPr>
        </p:sp>
        <p:sp>
          <p:nvSpPr>
            <p:cNvPr id="26" name="TextBox 26"/>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0" y="9604756"/>
            <a:ext cx="498703" cy="682244"/>
            <a:chOff x="0" y="0"/>
            <a:chExt cx="406400" cy="555970"/>
          </a:xfrm>
        </p:grpSpPr>
        <p:sp>
          <p:nvSpPr>
            <p:cNvPr id="28" name="Freeform 28"/>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29" name="TextBox 29"/>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529997" y="9604756"/>
            <a:ext cx="498703" cy="682244"/>
            <a:chOff x="0" y="0"/>
            <a:chExt cx="406400" cy="555970"/>
          </a:xfrm>
        </p:grpSpPr>
        <p:sp>
          <p:nvSpPr>
            <p:cNvPr id="31" name="Freeform 31"/>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32" name="TextBox 32"/>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3344510" y="9258300"/>
            <a:ext cx="2326640" cy="1028700"/>
            <a:chOff x="0" y="0"/>
            <a:chExt cx="406400" cy="179686"/>
          </a:xfrm>
        </p:grpSpPr>
        <p:sp>
          <p:nvSpPr>
            <p:cNvPr id="34" name="Freeform 34"/>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158E8F"/>
            </a:solidFill>
          </p:spPr>
        </p:sp>
        <p:sp>
          <p:nvSpPr>
            <p:cNvPr id="35" name="TextBox 35"/>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6781735" y="-796920"/>
            <a:ext cx="1464533" cy="170418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7022668" y="-516562"/>
            <a:ext cx="982667" cy="1143467"/>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369904" y="626905"/>
            <a:ext cx="823662" cy="958443"/>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6505406" y="784580"/>
            <a:ext cx="552658" cy="643092"/>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505514" y="1275719"/>
            <a:ext cx="2674083" cy="3111660"/>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793523" y="1610857"/>
            <a:ext cx="2098064" cy="24413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38679" y="2012493"/>
            <a:ext cx="1407751" cy="1638110"/>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57" name="TextBox 57"/>
          <p:cNvSpPr txBox="1"/>
          <p:nvPr/>
        </p:nvSpPr>
        <p:spPr>
          <a:xfrm>
            <a:off x="1677984" y="3583929"/>
            <a:ext cx="9238227" cy="4787293"/>
          </a:xfrm>
          <a:prstGeom prst="rect">
            <a:avLst/>
          </a:prstGeom>
        </p:spPr>
        <p:txBody>
          <a:bodyPr lIns="0" tIns="0" rIns="0" bIns="0" rtlCol="0" anchor="t">
            <a:spAutoFit/>
          </a:bodyPr>
          <a:lstStyle/>
          <a:p>
            <a:pPr algn="l">
              <a:lnSpc>
                <a:spcPts val="4228"/>
              </a:lnSpc>
            </a:pPr>
            <a:endParaRPr/>
          </a:p>
          <a:p>
            <a:pPr marL="647470" lvl="1" indent="-323735" algn="l">
              <a:lnSpc>
                <a:spcPts val="4228"/>
              </a:lnSpc>
              <a:buFont typeface="Arial"/>
              <a:buChar char="•"/>
            </a:pPr>
            <a:r>
              <a:rPr lang="en-US" sz="2998">
                <a:solidFill>
                  <a:srgbClr val="000000"/>
                </a:solidFill>
                <a:latin typeface="Proxima Nova"/>
                <a:ea typeface="Proxima Nova"/>
                <a:cs typeface="Proxima Nova"/>
                <a:sym typeface="Proxima Nova"/>
              </a:rPr>
              <a:t>Handling missing values</a:t>
            </a:r>
          </a:p>
          <a:p>
            <a:pPr marL="647470" lvl="1" indent="-323735" algn="l">
              <a:lnSpc>
                <a:spcPts val="4228"/>
              </a:lnSpc>
              <a:buFont typeface="Arial"/>
              <a:buChar char="•"/>
            </a:pPr>
            <a:r>
              <a:rPr lang="en-US" sz="2998">
                <a:solidFill>
                  <a:srgbClr val="000000"/>
                </a:solidFill>
                <a:latin typeface="Proxima Nova"/>
                <a:ea typeface="Proxima Nova"/>
                <a:cs typeface="Proxima Nova"/>
                <a:sym typeface="Proxima Nova"/>
              </a:rPr>
              <a:t>Data normalization / scaling</a:t>
            </a:r>
          </a:p>
          <a:p>
            <a:pPr marL="647470" lvl="1" indent="-323735" algn="l">
              <a:lnSpc>
                <a:spcPts val="4228"/>
              </a:lnSpc>
              <a:buFont typeface="Arial"/>
              <a:buChar char="•"/>
            </a:pPr>
            <a:r>
              <a:rPr lang="en-US" sz="2998">
                <a:solidFill>
                  <a:srgbClr val="000000"/>
                </a:solidFill>
                <a:latin typeface="Proxima Nova"/>
                <a:ea typeface="Proxima Nova"/>
                <a:cs typeface="Proxima Nova"/>
                <a:sym typeface="Proxima Nova"/>
              </a:rPr>
              <a:t>Removing duplicates</a:t>
            </a:r>
          </a:p>
          <a:p>
            <a:pPr marL="647470" lvl="1" indent="-323735" algn="l">
              <a:lnSpc>
                <a:spcPts val="4228"/>
              </a:lnSpc>
              <a:buFont typeface="Arial"/>
              <a:buChar char="•"/>
            </a:pPr>
            <a:r>
              <a:rPr lang="en-US" sz="2998">
                <a:solidFill>
                  <a:srgbClr val="000000"/>
                </a:solidFill>
                <a:latin typeface="Proxima Nova"/>
                <a:ea typeface="Proxima Nova"/>
                <a:cs typeface="Proxima Nova"/>
                <a:sym typeface="Proxima Nova"/>
              </a:rPr>
              <a:t>Feature selection</a:t>
            </a:r>
          </a:p>
          <a:p>
            <a:pPr algn="l">
              <a:lnSpc>
                <a:spcPts val="4228"/>
              </a:lnSpc>
            </a:pPr>
            <a:endParaRPr lang="en-US" sz="2998">
              <a:solidFill>
                <a:srgbClr val="000000"/>
              </a:solidFill>
              <a:latin typeface="Proxima Nova"/>
              <a:ea typeface="Proxima Nova"/>
              <a:cs typeface="Proxima Nova"/>
              <a:sym typeface="Proxima Nova"/>
            </a:endParaRPr>
          </a:p>
          <a:p>
            <a:pPr algn="l">
              <a:lnSpc>
                <a:spcPts val="4228"/>
              </a:lnSpc>
            </a:pPr>
            <a:r>
              <a:rPr lang="en-US" sz="2998" b="1">
                <a:solidFill>
                  <a:srgbClr val="000000"/>
                </a:solidFill>
                <a:latin typeface="Proxima Nova Bold"/>
                <a:ea typeface="Proxima Nova Bold"/>
                <a:cs typeface="Proxima Nova Bold"/>
                <a:sym typeface="Proxima Nova Bold"/>
              </a:rPr>
              <a:t>Outcome:</a:t>
            </a:r>
            <a:r>
              <a:rPr lang="en-US" sz="2998">
                <a:solidFill>
                  <a:srgbClr val="000000"/>
                </a:solidFill>
                <a:latin typeface="Proxima Nova"/>
                <a:ea typeface="Proxima Nova"/>
                <a:cs typeface="Proxima Nova"/>
                <a:sym typeface="Proxima Nova"/>
              </a:rPr>
              <a:t> Clean and structured dataset ready for analysis.</a:t>
            </a:r>
          </a:p>
          <a:p>
            <a:pPr algn="l">
              <a:lnSpc>
                <a:spcPts val="4228"/>
              </a:lnSpc>
            </a:pPr>
            <a:endParaRPr lang="en-US" sz="2998">
              <a:solidFill>
                <a:srgbClr val="000000"/>
              </a:solidFill>
              <a:latin typeface="Proxima Nova"/>
              <a:ea typeface="Proxima Nova"/>
              <a:cs typeface="Proxima Nova"/>
              <a:sym typeface="Proxima Nova"/>
            </a:endParaRPr>
          </a:p>
        </p:txBody>
      </p:sp>
      <p:sp>
        <p:nvSpPr>
          <p:cNvPr id="58" name="Freeform 58"/>
          <p:cNvSpPr/>
          <p:nvPr/>
        </p:nvSpPr>
        <p:spPr>
          <a:xfrm>
            <a:off x="11549163" y="3041178"/>
            <a:ext cx="4462619" cy="5406257"/>
          </a:xfrm>
          <a:custGeom>
            <a:avLst/>
            <a:gdLst/>
            <a:ahLst/>
            <a:cxnLst/>
            <a:rect l="l" t="t" r="r" b="b"/>
            <a:pathLst>
              <a:path w="4462619" h="5406257">
                <a:moveTo>
                  <a:pt x="0" y="0"/>
                </a:moveTo>
                <a:lnTo>
                  <a:pt x="4462619" y="0"/>
                </a:lnTo>
                <a:lnTo>
                  <a:pt x="4462619" y="5406257"/>
                </a:lnTo>
                <a:lnTo>
                  <a:pt x="0" y="540625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9" name="TextBox 59"/>
          <p:cNvSpPr txBox="1"/>
          <p:nvPr/>
        </p:nvSpPr>
        <p:spPr>
          <a:xfrm>
            <a:off x="6587088" y="744361"/>
            <a:ext cx="7744770" cy="606777"/>
          </a:xfrm>
          <a:prstGeom prst="rect">
            <a:avLst/>
          </a:prstGeom>
        </p:spPr>
        <p:txBody>
          <a:bodyPr lIns="0" tIns="0" rIns="0" bIns="0" rtlCol="0" anchor="t">
            <a:spAutoFit/>
          </a:bodyPr>
          <a:lstStyle/>
          <a:p>
            <a:pPr algn="l">
              <a:lnSpc>
                <a:spcPts val="4644"/>
              </a:lnSpc>
            </a:pPr>
            <a:r>
              <a:rPr lang="en-US" sz="4261" b="1">
                <a:solidFill>
                  <a:srgbClr val="FFFFFF"/>
                </a:solidFill>
                <a:latin typeface="Tomorrow Bold"/>
                <a:ea typeface="Tomorrow Bold"/>
                <a:cs typeface="Tomorrow Bold"/>
                <a:sym typeface="Tomorrow Bold"/>
              </a:rPr>
              <a:t>Data Preprocessing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5441" y="1707214"/>
            <a:ext cx="13542559" cy="546693"/>
            <a:chOff x="0" y="0"/>
            <a:chExt cx="3566765" cy="143985"/>
          </a:xfrm>
        </p:grpSpPr>
        <p:sp>
          <p:nvSpPr>
            <p:cNvPr id="3" name="Freeform 3"/>
            <p:cNvSpPr/>
            <p:nvPr/>
          </p:nvSpPr>
          <p:spPr>
            <a:xfrm>
              <a:off x="0" y="0"/>
              <a:ext cx="3566764" cy="143985"/>
            </a:xfrm>
            <a:custGeom>
              <a:avLst/>
              <a:gdLst/>
              <a:ahLst/>
              <a:cxnLst/>
              <a:rect l="l" t="t" r="r" b="b"/>
              <a:pathLst>
                <a:path w="3566764" h="143985">
                  <a:moveTo>
                    <a:pt x="0" y="0"/>
                  </a:moveTo>
                  <a:lnTo>
                    <a:pt x="3566764" y="0"/>
                  </a:lnTo>
                  <a:lnTo>
                    <a:pt x="3566764" y="143985"/>
                  </a:lnTo>
                  <a:lnTo>
                    <a:pt x="0" y="143985"/>
                  </a:lnTo>
                  <a:close/>
                </a:path>
              </a:pathLst>
            </a:custGeom>
            <a:solidFill>
              <a:srgbClr val="0A4C4C"/>
            </a:solidFill>
          </p:spPr>
        </p:sp>
        <p:sp>
          <p:nvSpPr>
            <p:cNvPr id="4" name="TextBox 4"/>
            <p:cNvSpPr txBox="1"/>
            <p:nvPr/>
          </p:nvSpPr>
          <p:spPr>
            <a:xfrm>
              <a:off x="0" y="-38100"/>
              <a:ext cx="3566765" cy="18208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6614228" flipH="1">
            <a:off x="4278075" y="1183473"/>
            <a:ext cx="1888611" cy="1864574"/>
          </a:xfrm>
          <a:custGeom>
            <a:avLst/>
            <a:gdLst/>
            <a:ahLst/>
            <a:cxnLst/>
            <a:rect l="l" t="t" r="r" b="b"/>
            <a:pathLst>
              <a:path w="1888611" h="1864574">
                <a:moveTo>
                  <a:pt x="1888611" y="0"/>
                </a:moveTo>
                <a:lnTo>
                  <a:pt x="0" y="0"/>
                </a:lnTo>
                <a:lnTo>
                  <a:pt x="0" y="1864574"/>
                </a:lnTo>
                <a:lnTo>
                  <a:pt x="1888611" y="1864574"/>
                </a:lnTo>
                <a:lnTo>
                  <a:pt x="1888611"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128588"/>
            <a:ext cx="18234675" cy="2012445"/>
            <a:chOff x="0" y="0"/>
            <a:chExt cx="4802548" cy="530027"/>
          </a:xfrm>
        </p:grpSpPr>
        <p:sp>
          <p:nvSpPr>
            <p:cNvPr id="7" name="Freeform 7"/>
            <p:cNvSpPr/>
            <p:nvPr/>
          </p:nvSpPr>
          <p:spPr>
            <a:xfrm>
              <a:off x="0" y="0"/>
              <a:ext cx="4802548" cy="530027"/>
            </a:xfrm>
            <a:custGeom>
              <a:avLst/>
              <a:gdLst/>
              <a:ahLst/>
              <a:cxnLst/>
              <a:rect l="l" t="t" r="r" b="b"/>
              <a:pathLst>
                <a:path w="4802548" h="530027">
                  <a:moveTo>
                    <a:pt x="203200" y="0"/>
                  </a:moveTo>
                  <a:lnTo>
                    <a:pt x="4802548" y="0"/>
                  </a:lnTo>
                  <a:lnTo>
                    <a:pt x="4599348" y="530027"/>
                  </a:lnTo>
                  <a:lnTo>
                    <a:pt x="0" y="530027"/>
                  </a:lnTo>
                  <a:lnTo>
                    <a:pt x="203200" y="0"/>
                  </a:lnTo>
                  <a:close/>
                </a:path>
              </a:pathLst>
            </a:custGeom>
            <a:solidFill>
              <a:srgbClr val="41B3AF"/>
            </a:solidFill>
          </p:spPr>
        </p:sp>
        <p:sp>
          <p:nvSpPr>
            <p:cNvPr id="8" name="TextBox 8"/>
            <p:cNvSpPr txBox="1"/>
            <p:nvPr/>
          </p:nvSpPr>
          <p:spPr>
            <a:xfrm>
              <a:off x="101600" y="-38100"/>
              <a:ext cx="4599348" cy="56812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96172" y="9604756"/>
            <a:ext cx="11255645" cy="682244"/>
            <a:chOff x="0" y="0"/>
            <a:chExt cx="2964450" cy="179686"/>
          </a:xfrm>
        </p:grpSpPr>
        <p:sp>
          <p:nvSpPr>
            <p:cNvPr id="10" name="Freeform 10"/>
            <p:cNvSpPr/>
            <p:nvPr/>
          </p:nvSpPr>
          <p:spPr>
            <a:xfrm>
              <a:off x="0" y="0"/>
              <a:ext cx="2964450" cy="179686"/>
            </a:xfrm>
            <a:custGeom>
              <a:avLst/>
              <a:gdLst/>
              <a:ahLst/>
              <a:cxnLst/>
              <a:rect l="l" t="t" r="r" b="b"/>
              <a:pathLst>
                <a:path w="2964450" h="179686">
                  <a:moveTo>
                    <a:pt x="203200" y="0"/>
                  </a:moveTo>
                  <a:lnTo>
                    <a:pt x="2964450" y="0"/>
                  </a:lnTo>
                  <a:lnTo>
                    <a:pt x="2761250" y="179686"/>
                  </a:lnTo>
                  <a:lnTo>
                    <a:pt x="0" y="179686"/>
                  </a:lnTo>
                  <a:lnTo>
                    <a:pt x="203200" y="0"/>
                  </a:lnTo>
                  <a:close/>
                </a:path>
              </a:pathLst>
            </a:custGeom>
            <a:solidFill>
              <a:srgbClr val="41B3AF"/>
            </a:solidFill>
          </p:spPr>
        </p:sp>
        <p:sp>
          <p:nvSpPr>
            <p:cNvPr id="11" name="TextBox 11"/>
            <p:cNvSpPr txBox="1"/>
            <p:nvPr/>
          </p:nvSpPr>
          <p:spPr>
            <a:xfrm>
              <a:off x="101600" y="-38100"/>
              <a:ext cx="276125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745441" y="-78662"/>
            <a:ext cx="13542559" cy="314384"/>
            <a:chOff x="0" y="0"/>
            <a:chExt cx="3566765" cy="82801"/>
          </a:xfrm>
        </p:grpSpPr>
        <p:sp>
          <p:nvSpPr>
            <p:cNvPr id="13" name="Freeform 13"/>
            <p:cNvSpPr/>
            <p:nvPr/>
          </p:nvSpPr>
          <p:spPr>
            <a:xfrm>
              <a:off x="0" y="0"/>
              <a:ext cx="3566764" cy="82801"/>
            </a:xfrm>
            <a:custGeom>
              <a:avLst/>
              <a:gdLst/>
              <a:ahLst/>
              <a:cxnLst/>
              <a:rect l="l" t="t" r="r" b="b"/>
              <a:pathLst>
                <a:path w="3566764" h="82801">
                  <a:moveTo>
                    <a:pt x="0" y="0"/>
                  </a:moveTo>
                  <a:lnTo>
                    <a:pt x="3566764" y="0"/>
                  </a:lnTo>
                  <a:lnTo>
                    <a:pt x="3566764" y="82801"/>
                  </a:lnTo>
                  <a:lnTo>
                    <a:pt x="0" y="82801"/>
                  </a:lnTo>
                  <a:close/>
                </a:path>
              </a:pathLst>
            </a:custGeom>
            <a:solidFill>
              <a:srgbClr val="0A4C4C"/>
            </a:solidFill>
          </p:spPr>
        </p:sp>
        <p:sp>
          <p:nvSpPr>
            <p:cNvPr id="14" name="TextBox 14"/>
            <p:cNvSpPr txBox="1"/>
            <p:nvPr/>
          </p:nvSpPr>
          <p:spPr>
            <a:xfrm>
              <a:off x="0" y="-38100"/>
              <a:ext cx="3566765" cy="12090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070318" y="-128588"/>
            <a:ext cx="2917270" cy="2812786"/>
            <a:chOff x="0" y="0"/>
            <a:chExt cx="633931" cy="611226"/>
          </a:xfrm>
        </p:grpSpPr>
        <p:sp>
          <p:nvSpPr>
            <p:cNvPr id="16" name="Freeform 16"/>
            <p:cNvSpPr/>
            <p:nvPr/>
          </p:nvSpPr>
          <p:spPr>
            <a:xfrm>
              <a:off x="0" y="0"/>
              <a:ext cx="633931" cy="611226"/>
            </a:xfrm>
            <a:custGeom>
              <a:avLst/>
              <a:gdLst/>
              <a:ahLst/>
              <a:cxnLst/>
              <a:rect l="l" t="t" r="r" b="b"/>
              <a:pathLst>
                <a:path w="633931" h="611226">
                  <a:moveTo>
                    <a:pt x="203200" y="0"/>
                  </a:moveTo>
                  <a:lnTo>
                    <a:pt x="633931" y="0"/>
                  </a:lnTo>
                  <a:lnTo>
                    <a:pt x="430731" y="611226"/>
                  </a:lnTo>
                  <a:lnTo>
                    <a:pt x="0" y="611226"/>
                  </a:lnTo>
                  <a:lnTo>
                    <a:pt x="203200" y="0"/>
                  </a:lnTo>
                  <a:close/>
                </a:path>
              </a:pathLst>
            </a:custGeom>
            <a:solidFill>
              <a:srgbClr val="158E8F"/>
            </a:solidFill>
          </p:spPr>
        </p:sp>
        <p:sp>
          <p:nvSpPr>
            <p:cNvPr id="17" name="TextBox 17"/>
            <p:cNvSpPr txBox="1"/>
            <p:nvPr/>
          </p:nvSpPr>
          <p:spPr>
            <a:xfrm>
              <a:off x="101600" y="-38100"/>
              <a:ext cx="430731" cy="6493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973670" y="9604756"/>
            <a:ext cx="1543050" cy="682244"/>
            <a:chOff x="0" y="0"/>
            <a:chExt cx="406400" cy="179686"/>
          </a:xfrm>
        </p:grpSpPr>
        <p:sp>
          <p:nvSpPr>
            <p:cNvPr id="19" name="Freeform 19"/>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0" name="TextBox 20"/>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39709" y="9604756"/>
            <a:ext cx="1543050" cy="682244"/>
            <a:chOff x="0" y="0"/>
            <a:chExt cx="406400" cy="179686"/>
          </a:xfrm>
        </p:grpSpPr>
        <p:sp>
          <p:nvSpPr>
            <p:cNvPr id="22" name="Freeform 22"/>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3" name="TextBox 23"/>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105748" y="9604756"/>
            <a:ext cx="1543050" cy="682244"/>
            <a:chOff x="0" y="0"/>
            <a:chExt cx="406400" cy="179686"/>
          </a:xfrm>
        </p:grpSpPr>
        <p:sp>
          <p:nvSpPr>
            <p:cNvPr id="25" name="Freeform 25"/>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0A4C4C"/>
            </a:solidFill>
          </p:spPr>
        </p:sp>
        <p:sp>
          <p:nvSpPr>
            <p:cNvPr id="26" name="TextBox 26"/>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0" y="9604756"/>
            <a:ext cx="498703" cy="682244"/>
            <a:chOff x="0" y="0"/>
            <a:chExt cx="406400" cy="555970"/>
          </a:xfrm>
        </p:grpSpPr>
        <p:sp>
          <p:nvSpPr>
            <p:cNvPr id="28" name="Freeform 28"/>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29" name="TextBox 29"/>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529997" y="9604756"/>
            <a:ext cx="498703" cy="682244"/>
            <a:chOff x="0" y="0"/>
            <a:chExt cx="406400" cy="555970"/>
          </a:xfrm>
        </p:grpSpPr>
        <p:sp>
          <p:nvSpPr>
            <p:cNvPr id="31" name="Freeform 31"/>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32" name="TextBox 32"/>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3344510" y="9258300"/>
            <a:ext cx="2326640" cy="1028700"/>
            <a:chOff x="0" y="0"/>
            <a:chExt cx="406400" cy="179686"/>
          </a:xfrm>
        </p:grpSpPr>
        <p:sp>
          <p:nvSpPr>
            <p:cNvPr id="34" name="Freeform 34"/>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158E8F"/>
            </a:solidFill>
          </p:spPr>
        </p:sp>
        <p:sp>
          <p:nvSpPr>
            <p:cNvPr id="35" name="TextBox 35"/>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6781735" y="-796920"/>
            <a:ext cx="1464533" cy="170418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7022668" y="-516562"/>
            <a:ext cx="982667" cy="1143467"/>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369904" y="626905"/>
            <a:ext cx="823662" cy="958443"/>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6505406" y="784580"/>
            <a:ext cx="552658" cy="643092"/>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505514" y="1275719"/>
            <a:ext cx="2674083" cy="3111660"/>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793523" y="1610857"/>
            <a:ext cx="2098064" cy="24413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38679" y="2012493"/>
            <a:ext cx="1407751" cy="1638110"/>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57" name="Freeform 57"/>
          <p:cNvSpPr/>
          <p:nvPr/>
        </p:nvSpPr>
        <p:spPr>
          <a:xfrm>
            <a:off x="14273365" y="7237097"/>
            <a:ext cx="3958889" cy="2535553"/>
          </a:xfrm>
          <a:custGeom>
            <a:avLst/>
            <a:gdLst/>
            <a:ahLst/>
            <a:cxnLst/>
            <a:rect l="l" t="t" r="r" b="b"/>
            <a:pathLst>
              <a:path w="5987143" h="4114800">
                <a:moveTo>
                  <a:pt x="0" y="0"/>
                </a:moveTo>
                <a:lnTo>
                  <a:pt x="5987143" y="0"/>
                </a:lnTo>
                <a:lnTo>
                  <a:pt x="5987143"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9" name="TextBox 59"/>
          <p:cNvSpPr txBox="1"/>
          <p:nvPr/>
        </p:nvSpPr>
        <p:spPr>
          <a:xfrm>
            <a:off x="6035702" y="451688"/>
            <a:ext cx="7744770" cy="1183481"/>
          </a:xfrm>
          <a:prstGeom prst="rect">
            <a:avLst/>
          </a:prstGeom>
        </p:spPr>
        <p:txBody>
          <a:bodyPr lIns="0" tIns="0" rIns="0" bIns="0" rtlCol="0" anchor="t">
            <a:spAutoFit/>
          </a:bodyPr>
          <a:lstStyle/>
          <a:p>
            <a:pPr algn="ctr">
              <a:lnSpc>
                <a:spcPts val="4644"/>
              </a:lnSpc>
            </a:pPr>
            <a:r>
              <a:rPr lang="en-US" sz="4261" b="1">
                <a:solidFill>
                  <a:srgbClr val="FFFFFF"/>
                </a:solidFill>
                <a:latin typeface="Tomorrow Bold"/>
                <a:ea typeface="Tomorrow Bold"/>
                <a:cs typeface="Tomorrow Bold"/>
                <a:sym typeface="Tomorrow Bold"/>
              </a:rPr>
              <a:t>Key Performance Indicator (KPIs)</a:t>
            </a:r>
          </a:p>
        </p:txBody>
      </p:sp>
      <p:pic>
        <p:nvPicPr>
          <p:cNvPr id="61" name="Picture 60">
            <a:extLst>
              <a:ext uri="{FF2B5EF4-FFF2-40B4-BE49-F238E27FC236}">
                <a16:creationId xmlns:a16="http://schemas.microsoft.com/office/drawing/2014/main" id="{F794CD8C-2F9B-7C1D-DD87-2415E9FC7C81}"/>
              </a:ext>
            </a:extLst>
          </p:cNvPr>
          <p:cNvPicPr>
            <a:picLocks noChangeAspect="1"/>
          </p:cNvPicPr>
          <p:nvPr/>
        </p:nvPicPr>
        <p:blipFill>
          <a:blip r:embed="rId4"/>
          <a:stretch>
            <a:fillRect/>
          </a:stretch>
        </p:blipFill>
        <p:spPr>
          <a:xfrm>
            <a:off x="323063" y="2653628"/>
            <a:ext cx="13950301" cy="65284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5441" y="1707214"/>
            <a:ext cx="13542559" cy="546693"/>
            <a:chOff x="0" y="0"/>
            <a:chExt cx="3566765" cy="143985"/>
          </a:xfrm>
        </p:grpSpPr>
        <p:sp>
          <p:nvSpPr>
            <p:cNvPr id="3" name="Freeform 3"/>
            <p:cNvSpPr/>
            <p:nvPr/>
          </p:nvSpPr>
          <p:spPr>
            <a:xfrm>
              <a:off x="0" y="0"/>
              <a:ext cx="3566764" cy="143985"/>
            </a:xfrm>
            <a:custGeom>
              <a:avLst/>
              <a:gdLst/>
              <a:ahLst/>
              <a:cxnLst/>
              <a:rect l="l" t="t" r="r" b="b"/>
              <a:pathLst>
                <a:path w="3566764" h="143985">
                  <a:moveTo>
                    <a:pt x="0" y="0"/>
                  </a:moveTo>
                  <a:lnTo>
                    <a:pt x="3566764" y="0"/>
                  </a:lnTo>
                  <a:lnTo>
                    <a:pt x="3566764" y="143985"/>
                  </a:lnTo>
                  <a:lnTo>
                    <a:pt x="0" y="143985"/>
                  </a:lnTo>
                  <a:close/>
                </a:path>
              </a:pathLst>
            </a:custGeom>
            <a:solidFill>
              <a:srgbClr val="0A4C4C"/>
            </a:solidFill>
          </p:spPr>
        </p:sp>
        <p:sp>
          <p:nvSpPr>
            <p:cNvPr id="4" name="TextBox 4"/>
            <p:cNvSpPr txBox="1"/>
            <p:nvPr/>
          </p:nvSpPr>
          <p:spPr>
            <a:xfrm>
              <a:off x="0" y="-38100"/>
              <a:ext cx="3566765" cy="18208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6614228" flipH="1">
            <a:off x="4278075" y="1183473"/>
            <a:ext cx="1888611" cy="1864574"/>
          </a:xfrm>
          <a:custGeom>
            <a:avLst/>
            <a:gdLst/>
            <a:ahLst/>
            <a:cxnLst/>
            <a:rect l="l" t="t" r="r" b="b"/>
            <a:pathLst>
              <a:path w="1888611" h="1864574">
                <a:moveTo>
                  <a:pt x="1888611" y="0"/>
                </a:moveTo>
                <a:lnTo>
                  <a:pt x="0" y="0"/>
                </a:lnTo>
                <a:lnTo>
                  <a:pt x="0" y="1864574"/>
                </a:lnTo>
                <a:lnTo>
                  <a:pt x="1888611" y="1864574"/>
                </a:lnTo>
                <a:lnTo>
                  <a:pt x="1888611"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128588"/>
            <a:ext cx="18234675" cy="2012445"/>
            <a:chOff x="0" y="0"/>
            <a:chExt cx="4802548" cy="530027"/>
          </a:xfrm>
        </p:grpSpPr>
        <p:sp>
          <p:nvSpPr>
            <p:cNvPr id="7" name="Freeform 7"/>
            <p:cNvSpPr/>
            <p:nvPr/>
          </p:nvSpPr>
          <p:spPr>
            <a:xfrm>
              <a:off x="0" y="0"/>
              <a:ext cx="4802548" cy="530027"/>
            </a:xfrm>
            <a:custGeom>
              <a:avLst/>
              <a:gdLst/>
              <a:ahLst/>
              <a:cxnLst/>
              <a:rect l="l" t="t" r="r" b="b"/>
              <a:pathLst>
                <a:path w="4802548" h="530027">
                  <a:moveTo>
                    <a:pt x="203200" y="0"/>
                  </a:moveTo>
                  <a:lnTo>
                    <a:pt x="4802548" y="0"/>
                  </a:lnTo>
                  <a:lnTo>
                    <a:pt x="4599348" y="530027"/>
                  </a:lnTo>
                  <a:lnTo>
                    <a:pt x="0" y="530027"/>
                  </a:lnTo>
                  <a:lnTo>
                    <a:pt x="203200" y="0"/>
                  </a:lnTo>
                  <a:close/>
                </a:path>
              </a:pathLst>
            </a:custGeom>
            <a:solidFill>
              <a:srgbClr val="41B3AF"/>
            </a:solidFill>
          </p:spPr>
        </p:sp>
        <p:sp>
          <p:nvSpPr>
            <p:cNvPr id="8" name="TextBox 8"/>
            <p:cNvSpPr txBox="1"/>
            <p:nvPr/>
          </p:nvSpPr>
          <p:spPr>
            <a:xfrm>
              <a:off x="101600" y="-38100"/>
              <a:ext cx="4599348" cy="56812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96172" y="9604756"/>
            <a:ext cx="11255645" cy="682244"/>
            <a:chOff x="0" y="0"/>
            <a:chExt cx="2964450" cy="179686"/>
          </a:xfrm>
        </p:grpSpPr>
        <p:sp>
          <p:nvSpPr>
            <p:cNvPr id="10" name="Freeform 10"/>
            <p:cNvSpPr/>
            <p:nvPr/>
          </p:nvSpPr>
          <p:spPr>
            <a:xfrm>
              <a:off x="0" y="0"/>
              <a:ext cx="2964450" cy="179686"/>
            </a:xfrm>
            <a:custGeom>
              <a:avLst/>
              <a:gdLst/>
              <a:ahLst/>
              <a:cxnLst/>
              <a:rect l="l" t="t" r="r" b="b"/>
              <a:pathLst>
                <a:path w="2964450" h="179686">
                  <a:moveTo>
                    <a:pt x="203200" y="0"/>
                  </a:moveTo>
                  <a:lnTo>
                    <a:pt x="2964450" y="0"/>
                  </a:lnTo>
                  <a:lnTo>
                    <a:pt x="2761250" y="179686"/>
                  </a:lnTo>
                  <a:lnTo>
                    <a:pt x="0" y="179686"/>
                  </a:lnTo>
                  <a:lnTo>
                    <a:pt x="203200" y="0"/>
                  </a:lnTo>
                  <a:close/>
                </a:path>
              </a:pathLst>
            </a:custGeom>
            <a:solidFill>
              <a:srgbClr val="41B3AF"/>
            </a:solidFill>
          </p:spPr>
        </p:sp>
        <p:sp>
          <p:nvSpPr>
            <p:cNvPr id="11" name="TextBox 11"/>
            <p:cNvSpPr txBox="1"/>
            <p:nvPr/>
          </p:nvSpPr>
          <p:spPr>
            <a:xfrm>
              <a:off x="101600" y="-38100"/>
              <a:ext cx="276125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745441" y="-78662"/>
            <a:ext cx="13542559" cy="314384"/>
            <a:chOff x="0" y="0"/>
            <a:chExt cx="3566765" cy="82801"/>
          </a:xfrm>
        </p:grpSpPr>
        <p:sp>
          <p:nvSpPr>
            <p:cNvPr id="13" name="Freeform 13"/>
            <p:cNvSpPr/>
            <p:nvPr/>
          </p:nvSpPr>
          <p:spPr>
            <a:xfrm>
              <a:off x="0" y="0"/>
              <a:ext cx="3566764" cy="82801"/>
            </a:xfrm>
            <a:custGeom>
              <a:avLst/>
              <a:gdLst/>
              <a:ahLst/>
              <a:cxnLst/>
              <a:rect l="l" t="t" r="r" b="b"/>
              <a:pathLst>
                <a:path w="3566764" h="82801">
                  <a:moveTo>
                    <a:pt x="0" y="0"/>
                  </a:moveTo>
                  <a:lnTo>
                    <a:pt x="3566764" y="0"/>
                  </a:lnTo>
                  <a:lnTo>
                    <a:pt x="3566764" y="82801"/>
                  </a:lnTo>
                  <a:lnTo>
                    <a:pt x="0" y="82801"/>
                  </a:lnTo>
                  <a:close/>
                </a:path>
              </a:pathLst>
            </a:custGeom>
            <a:solidFill>
              <a:srgbClr val="0A4C4C"/>
            </a:solidFill>
          </p:spPr>
        </p:sp>
        <p:sp>
          <p:nvSpPr>
            <p:cNvPr id="14" name="TextBox 14"/>
            <p:cNvSpPr txBox="1"/>
            <p:nvPr/>
          </p:nvSpPr>
          <p:spPr>
            <a:xfrm>
              <a:off x="0" y="-38100"/>
              <a:ext cx="3566765" cy="12090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070318" y="-128588"/>
            <a:ext cx="2917270" cy="2812786"/>
            <a:chOff x="0" y="0"/>
            <a:chExt cx="633931" cy="611226"/>
          </a:xfrm>
        </p:grpSpPr>
        <p:sp>
          <p:nvSpPr>
            <p:cNvPr id="16" name="Freeform 16"/>
            <p:cNvSpPr/>
            <p:nvPr/>
          </p:nvSpPr>
          <p:spPr>
            <a:xfrm>
              <a:off x="0" y="0"/>
              <a:ext cx="633931" cy="611226"/>
            </a:xfrm>
            <a:custGeom>
              <a:avLst/>
              <a:gdLst/>
              <a:ahLst/>
              <a:cxnLst/>
              <a:rect l="l" t="t" r="r" b="b"/>
              <a:pathLst>
                <a:path w="633931" h="611226">
                  <a:moveTo>
                    <a:pt x="203200" y="0"/>
                  </a:moveTo>
                  <a:lnTo>
                    <a:pt x="633931" y="0"/>
                  </a:lnTo>
                  <a:lnTo>
                    <a:pt x="430731" y="611226"/>
                  </a:lnTo>
                  <a:lnTo>
                    <a:pt x="0" y="611226"/>
                  </a:lnTo>
                  <a:lnTo>
                    <a:pt x="203200" y="0"/>
                  </a:lnTo>
                  <a:close/>
                </a:path>
              </a:pathLst>
            </a:custGeom>
            <a:solidFill>
              <a:srgbClr val="158E8F"/>
            </a:solidFill>
          </p:spPr>
        </p:sp>
        <p:sp>
          <p:nvSpPr>
            <p:cNvPr id="17" name="TextBox 17"/>
            <p:cNvSpPr txBox="1"/>
            <p:nvPr/>
          </p:nvSpPr>
          <p:spPr>
            <a:xfrm>
              <a:off x="101600" y="-38100"/>
              <a:ext cx="430731" cy="6493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973670" y="9604756"/>
            <a:ext cx="1543050" cy="682244"/>
            <a:chOff x="0" y="0"/>
            <a:chExt cx="406400" cy="179686"/>
          </a:xfrm>
        </p:grpSpPr>
        <p:sp>
          <p:nvSpPr>
            <p:cNvPr id="19" name="Freeform 19"/>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0" name="TextBox 20"/>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39709" y="9604756"/>
            <a:ext cx="1543050" cy="682244"/>
            <a:chOff x="0" y="0"/>
            <a:chExt cx="406400" cy="179686"/>
          </a:xfrm>
        </p:grpSpPr>
        <p:sp>
          <p:nvSpPr>
            <p:cNvPr id="22" name="Freeform 22"/>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3" name="TextBox 23"/>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105748" y="9604756"/>
            <a:ext cx="1543050" cy="682244"/>
            <a:chOff x="0" y="0"/>
            <a:chExt cx="406400" cy="179686"/>
          </a:xfrm>
        </p:grpSpPr>
        <p:sp>
          <p:nvSpPr>
            <p:cNvPr id="25" name="Freeform 25"/>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0A4C4C"/>
            </a:solidFill>
          </p:spPr>
        </p:sp>
        <p:sp>
          <p:nvSpPr>
            <p:cNvPr id="26" name="TextBox 26"/>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0" y="9604756"/>
            <a:ext cx="498703" cy="682244"/>
            <a:chOff x="0" y="0"/>
            <a:chExt cx="406400" cy="555970"/>
          </a:xfrm>
        </p:grpSpPr>
        <p:sp>
          <p:nvSpPr>
            <p:cNvPr id="28" name="Freeform 28"/>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29" name="TextBox 29"/>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529997" y="9604756"/>
            <a:ext cx="498703" cy="682244"/>
            <a:chOff x="0" y="0"/>
            <a:chExt cx="406400" cy="555970"/>
          </a:xfrm>
        </p:grpSpPr>
        <p:sp>
          <p:nvSpPr>
            <p:cNvPr id="31" name="Freeform 31"/>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32" name="TextBox 32"/>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3344510" y="9258300"/>
            <a:ext cx="2326640" cy="1028700"/>
            <a:chOff x="0" y="0"/>
            <a:chExt cx="406400" cy="179686"/>
          </a:xfrm>
        </p:grpSpPr>
        <p:sp>
          <p:nvSpPr>
            <p:cNvPr id="34" name="Freeform 34"/>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158E8F"/>
            </a:solidFill>
          </p:spPr>
        </p:sp>
        <p:sp>
          <p:nvSpPr>
            <p:cNvPr id="35" name="TextBox 35"/>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6781735" y="-796920"/>
            <a:ext cx="1464533" cy="170418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7022668" y="-516562"/>
            <a:ext cx="982667" cy="1143467"/>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369904" y="626905"/>
            <a:ext cx="823662" cy="958443"/>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6505406" y="784580"/>
            <a:ext cx="552658" cy="643092"/>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505514" y="1275719"/>
            <a:ext cx="2674083" cy="3111660"/>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793523" y="1610857"/>
            <a:ext cx="2098064" cy="24413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38679" y="2012493"/>
            <a:ext cx="1407751" cy="1638110"/>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57" name="TextBox 57"/>
          <p:cNvSpPr txBox="1"/>
          <p:nvPr/>
        </p:nvSpPr>
        <p:spPr>
          <a:xfrm>
            <a:off x="1495373" y="3835311"/>
            <a:ext cx="9422595" cy="4609478"/>
          </a:xfrm>
          <a:prstGeom prst="rect">
            <a:avLst/>
          </a:prstGeom>
        </p:spPr>
        <p:txBody>
          <a:bodyPr lIns="0" tIns="0" rIns="0" bIns="0" rtlCol="0" anchor="t">
            <a:spAutoFit/>
          </a:bodyPr>
          <a:lstStyle/>
          <a:p>
            <a:pPr marL="621891" lvl="1" indent="-310945" algn="l">
              <a:lnSpc>
                <a:spcPts val="4061"/>
              </a:lnSpc>
              <a:buFont typeface="Arial"/>
              <a:buChar char="•"/>
            </a:pPr>
            <a:r>
              <a:rPr lang="en-US" sz="2880" b="1">
                <a:solidFill>
                  <a:srgbClr val="000000"/>
                </a:solidFill>
                <a:latin typeface="Proxima Nova Bold"/>
                <a:ea typeface="Proxima Nova Bold"/>
                <a:cs typeface="Proxima Nova Bold"/>
                <a:sym typeface="Proxima Nova Bold"/>
              </a:rPr>
              <a:t>Fraud Rate =</a:t>
            </a:r>
            <a:r>
              <a:rPr lang="en-US" sz="2880">
                <a:solidFill>
                  <a:srgbClr val="000000"/>
                </a:solidFill>
                <a:latin typeface="Proxima Nova"/>
                <a:ea typeface="Proxima Nova"/>
                <a:cs typeface="Proxima Nova"/>
                <a:sym typeface="Proxima Nova"/>
              </a:rPr>
              <a:t> (Fraud Transactions / Total Transactions) × 100</a:t>
            </a:r>
          </a:p>
          <a:p>
            <a:pPr marL="621891" lvl="1" indent="-310945" algn="l">
              <a:lnSpc>
                <a:spcPts val="4061"/>
              </a:lnSpc>
              <a:buFont typeface="Arial"/>
              <a:buChar char="•"/>
            </a:pPr>
            <a:r>
              <a:rPr lang="en-US" sz="2880" b="1">
                <a:solidFill>
                  <a:srgbClr val="000000"/>
                </a:solidFill>
                <a:latin typeface="Proxima Nova Bold"/>
                <a:ea typeface="Proxima Nova Bold"/>
                <a:cs typeface="Proxima Nova Bold"/>
                <a:sym typeface="Proxima Nova Bold"/>
              </a:rPr>
              <a:t>Average Transaction Amoun</a:t>
            </a:r>
            <a:r>
              <a:rPr lang="en-US" sz="2880">
                <a:solidFill>
                  <a:srgbClr val="000000"/>
                </a:solidFill>
                <a:latin typeface="Proxima Nova"/>
                <a:ea typeface="Proxima Nova"/>
                <a:cs typeface="Proxima Nova"/>
                <a:sym typeface="Proxima Nova"/>
              </a:rPr>
              <a:t>t = Total Amount / Total Transactions</a:t>
            </a:r>
          </a:p>
          <a:p>
            <a:pPr marL="621891" lvl="1" indent="-310945" algn="l">
              <a:lnSpc>
                <a:spcPts val="4061"/>
              </a:lnSpc>
              <a:buFont typeface="Arial"/>
              <a:buChar char="•"/>
            </a:pPr>
            <a:r>
              <a:rPr lang="en-US" sz="2880" b="1">
                <a:solidFill>
                  <a:srgbClr val="000000"/>
                </a:solidFill>
                <a:latin typeface="Proxima Nova Bold"/>
                <a:ea typeface="Proxima Nova Bold"/>
                <a:cs typeface="Proxima Nova Bold"/>
                <a:sym typeface="Proxima Nova Bold"/>
              </a:rPr>
              <a:t>Fraud Loss</a:t>
            </a:r>
            <a:r>
              <a:rPr lang="en-US" sz="2880">
                <a:solidFill>
                  <a:srgbClr val="000000"/>
                </a:solidFill>
                <a:latin typeface="Proxima Nova"/>
                <a:ea typeface="Proxima Nova"/>
                <a:cs typeface="Proxima Nova"/>
                <a:sym typeface="Proxima Nova"/>
              </a:rPr>
              <a:t> = Sum of Fraudulent Transaction Amounts</a:t>
            </a:r>
          </a:p>
          <a:p>
            <a:pPr algn="l">
              <a:lnSpc>
                <a:spcPts val="4061"/>
              </a:lnSpc>
            </a:pPr>
            <a:endParaRPr lang="en-US" sz="2880">
              <a:solidFill>
                <a:srgbClr val="000000"/>
              </a:solidFill>
              <a:latin typeface="Proxima Nova"/>
              <a:ea typeface="Proxima Nova"/>
              <a:cs typeface="Proxima Nova"/>
              <a:sym typeface="Proxima Nova"/>
            </a:endParaRPr>
          </a:p>
          <a:p>
            <a:pPr algn="l">
              <a:lnSpc>
                <a:spcPts val="4061"/>
              </a:lnSpc>
            </a:pPr>
            <a:r>
              <a:rPr lang="en-US" sz="2880">
                <a:solidFill>
                  <a:srgbClr val="000000"/>
                </a:solidFill>
                <a:latin typeface="Proxima Nova"/>
                <a:ea typeface="Proxima Nova"/>
                <a:cs typeface="Proxima Nova"/>
                <a:sym typeface="Proxima Nova"/>
              </a:rPr>
              <a:t>These KPIs help in understanding fraud patterns and financial impact.</a:t>
            </a:r>
          </a:p>
          <a:p>
            <a:pPr algn="l">
              <a:lnSpc>
                <a:spcPts val="4061"/>
              </a:lnSpc>
            </a:pPr>
            <a:endParaRPr lang="en-US" sz="2880">
              <a:solidFill>
                <a:srgbClr val="000000"/>
              </a:solidFill>
              <a:latin typeface="Proxima Nova"/>
              <a:ea typeface="Proxima Nova"/>
              <a:cs typeface="Proxima Nova"/>
              <a:sym typeface="Proxima Nova"/>
            </a:endParaRPr>
          </a:p>
        </p:txBody>
      </p:sp>
      <p:sp>
        <p:nvSpPr>
          <p:cNvPr id="58" name="Freeform 58"/>
          <p:cNvSpPr/>
          <p:nvPr/>
        </p:nvSpPr>
        <p:spPr>
          <a:xfrm>
            <a:off x="12877273" y="3086100"/>
            <a:ext cx="3640497" cy="5241553"/>
          </a:xfrm>
          <a:custGeom>
            <a:avLst/>
            <a:gdLst/>
            <a:ahLst/>
            <a:cxnLst/>
            <a:rect l="l" t="t" r="r" b="b"/>
            <a:pathLst>
              <a:path w="3640497" h="5241553">
                <a:moveTo>
                  <a:pt x="0" y="0"/>
                </a:moveTo>
                <a:lnTo>
                  <a:pt x="3640496" y="0"/>
                </a:lnTo>
                <a:lnTo>
                  <a:pt x="3640496" y="5241553"/>
                </a:lnTo>
                <a:lnTo>
                  <a:pt x="0" y="524155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9" name="Freeform 59"/>
          <p:cNvSpPr/>
          <p:nvPr/>
        </p:nvSpPr>
        <p:spPr>
          <a:xfrm>
            <a:off x="11512890" y="4182837"/>
            <a:ext cx="2333166" cy="3048079"/>
          </a:xfrm>
          <a:custGeom>
            <a:avLst/>
            <a:gdLst/>
            <a:ahLst/>
            <a:cxnLst/>
            <a:rect l="l" t="t" r="r" b="b"/>
            <a:pathLst>
              <a:path w="2333166" h="3048079">
                <a:moveTo>
                  <a:pt x="0" y="0"/>
                </a:moveTo>
                <a:lnTo>
                  <a:pt x="2333165" y="0"/>
                </a:lnTo>
                <a:lnTo>
                  <a:pt x="2333165" y="3048079"/>
                </a:lnTo>
                <a:lnTo>
                  <a:pt x="0" y="304807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0" name="TextBox 60"/>
          <p:cNvSpPr txBox="1"/>
          <p:nvPr/>
        </p:nvSpPr>
        <p:spPr>
          <a:xfrm>
            <a:off x="6101285" y="744361"/>
            <a:ext cx="7744770" cy="602456"/>
          </a:xfrm>
          <a:prstGeom prst="rect">
            <a:avLst/>
          </a:prstGeom>
        </p:spPr>
        <p:txBody>
          <a:bodyPr lIns="0" tIns="0" rIns="0" bIns="0" rtlCol="0" anchor="t">
            <a:spAutoFit/>
          </a:bodyPr>
          <a:lstStyle/>
          <a:p>
            <a:pPr algn="ctr">
              <a:lnSpc>
                <a:spcPts val="4644"/>
              </a:lnSpc>
            </a:pPr>
            <a:r>
              <a:rPr lang="en-US" sz="4261" b="1">
                <a:solidFill>
                  <a:srgbClr val="FFFFFF"/>
                </a:solidFill>
                <a:latin typeface="Tomorrow Bold"/>
                <a:ea typeface="Tomorrow Bold"/>
                <a:cs typeface="Tomorrow Bold"/>
                <a:sym typeface="Tomorrow Bold"/>
              </a:rPr>
              <a:t>KPI Formulas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5441" y="1707214"/>
            <a:ext cx="13542559" cy="546693"/>
            <a:chOff x="0" y="0"/>
            <a:chExt cx="3566765" cy="143985"/>
          </a:xfrm>
        </p:grpSpPr>
        <p:sp>
          <p:nvSpPr>
            <p:cNvPr id="3" name="Freeform 3"/>
            <p:cNvSpPr/>
            <p:nvPr/>
          </p:nvSpPr>
          <p:spPr>
            <a:xfrm>
              <a:off x="0" y="0"/>
              <a:ext cx="3566764" cy="143985"/>
            </a:xfrm>
            <a:custGeom>
              <a:avLst/>
              <a:gdLst/>
              <a:ahLst/>
              <a:cxnLst/>
              <a:rect l="l" t="t" r="r" b="b"/>
              <a:pathLst>
                <a:path w="3566764" h="143985">
                  <a:moveTo>
                    <a:pt x="0" y="0"/>
                  </a:moveTo>
                  <a:lnTo>
                    <a:pt x="3566764" y="0"/>
                  </a:lnTo>
                  <a:lnTo>
                    <a:pt x="3566764" y="143985"/>
                  </a:lnTo>
                  <a:lnTo>
                    <a:pt x="0" y="143985"/>
                  </a:lnTo>
                  <a:close/>
                </a:path>
              </a:pathLst>
            </a:custGeom>
            <a:solidFill>
              <a:srgbClr val="0A4C4C"/>
            </a:solidFill>
          </p:spPr>
        </p:sp>
        <p:sp>
          <p:nvSpPr>
            <p:cNvPr id="4" name="TextBox 4"/>
            <p:cNvSpPr txBox="1"/>
            <p:nvPr/>
          </p:nvSpPr>
          <p:spPr>
            <a:xfrm>
              <a:off x="0" y="-38100"/>
              <a:ext cx="3566765" cy="18208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6614228" flipH="1">
            <a:off x="4278075" y="1183473"/>
            <a:ext cx="1888611" cy="1864574"/>
          </a:xfrm>
          <a:custGeom>
            <a:avLst/>
            <a:gdLst/>
            <a:ahLst/>
            <a:cxnLst/>
            <a:rect l="l" t="t" r="r" b="b"/>
            <a:pathLst>
              <a:path w="1888611" h="1864574">
                <a:moveTo>
                  <a:pt x="1888611" y="0"/>
                </a:moveTo>
                <a:lnTo>
                  <a:pt x="0" y="0"/>
                </a:lnTo>
                <a:lnTo>
                  <a:pt x="0" y="1864574"/>
                </a:lnTo>
                <a:lnTo>
                  <a:pt x="1888611" y="1864574"/>
                </a:lnTo>
                <a:lnTo>
                  <a:pt x="1888611"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128588"/>
            <a:ext cx="18234675" cy="2012445"/>
            <a:chOff x="0" y="0"/>
            <a:chExt cx="4802548" cy="530027"/>
          </a:xfrm>
        </p:grpSpPr>
        <p:sp>
          <p:nvSpPr>
            <p:cNvPr id="7" name="Freeform 7"/>
            <p:cNvSpPr/>
            <p:nvPr/>
          </p:nvSpPr>
          <p:spPr>
            <a:xfrm>
              <a:off x="0" y="0"/>
              <a:ext cx="4802548" cy="530027"/>
            </a:xfrm>
            <a:custGeom>
              <a:avLst/>
              <a:gdLst/>
              <a:ahLst/>
              <a:cxnLst/>
              <a:rect l="l" t="t" r="r" b="b"/>
              <a:pathLst>
                <a:path w="4802548" h="530027">
                  <a:moveTo>
                    <a:pt x="203200" y="0"/>
                  </a:moveTo>
                  <a:lnTo>
                    <a:pt x="4802548" y="0"/>
                  </a:lnTo>
                  <a:lnTo>
                    <a:pt x="4599348" y="530027"/>
                  </a:lnTo>
                  <a:lnTo>
                    <a:pt x="0" y="530027"/>
                  </a:lnTo>
                  <a:lnTo>
                    <a:pt x="203200" y="0"/>
                  </a:lnTo>
                  <a:close/>
                </a:path>
              </a:pathLst>
            </a:custGeom>
            <a:solidFill>
              <a:srgbClr val="41B3AF"/>
            </a:solidFill>
          </p:spPr>
        </p:sp>
        <p:sp>
          <p:nvSpPr>
            <p:cNvPr id="8" name="TextBox 8"/>
            <p:cNvSpPr txBox="1"/>
            <p:nvPr/>
          </p:nvSpPr>
          <p:spPr>
            <a:xfrm>
              <a:off x="101600" y="-38100"/>
              <a:ext cx="4599348" cy="56812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96172" y="9604756"/>
            <a:ext cx="11255645" cy="682244"/>
            <a:chOff x="0" y="0"/>
            <a:chExt cx="2964450" cy="179686"/>
          </a:xfrm>
        </p:grpSpPr>
        <p:sp>
          <p:nvSpPr>
            <p:cNvPr id="10" name="Freeform 10"/>
            <p:cNvSpPr/>
            <p:nvPr/>
          </p:nvSpPr>
          <p:spPr>
            <a:xfrm>
              <a:off x="0" y="0"/>
              <a:ext cx="2964450" cy="179686"/>
            </a:xfrm>
            <a:custGeom>
              <a:avLst/>
              <a:gdLst/>
              <a:ahLst/>
              <a:cxnLst/>
              <a:rect l="l" t="t" r="r" b="b"/>
              <a:pathLst>
                <a:path w="2964450" h="179686">
                  <a:moveTo>
                    <a:pt x="203200" y="0"/>
                  </a:moveTo>
                  <a:lnTo>
                    <a:pt x="2964450" y="0"/>
                  </a:lnTo>
                  <a:lnTo>
                    <a:pt x="2761250" y="179686"/>
                  </a:lnTo>
                  <a:lnTo>
                    <a:pt x="0" y="179686"/>
                  </a:lnTo>
                  <a:lnTo>
                    <a:pt x="203200" y="0"/>
                  </a:lnTo>
                  <a:close/>
                </a:path>
              </a:pathLst>
            </a:custGeom>
            <a:solidFill>
              <a:srgbClr val="41B3AF"/>
            </a:solidFill>
          </p:spPr>
        </p:sp>
        <p:sp>
          <p:nvSpPr>
            <p:cNvPr id="11" name="TextBox 11"/>
            <p:cNvSpPr txBox="1"/>
            <p:nvPr/>
          </p:nvSpPr>
          <p:spPr>
            <a:xfrm>
              <a:off x="101600" y="-38100"/>
              <a:ext cx="276125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745441" y="-78662"/>
            <a:ext cx="13542559" cy="314384"/>
            <a:chOff x="0" y="0"/>
            <a:chExt cx="3566765" cy="82801"/>
          </a:xfrm>
        </p:grpSpPr>
        <p:sp>
          <p:nvSpPr>
            <p:cNvPr id="13" name="Freeform 13"/>
            <p:cNvSpPr/>
            <p:nvPr/>
          </p:nvSpPr>
          <p:spPr>
            <a:xfrm>
              <a:off x="0" y="0"/>
              <a:ext cx="3566764" cy="82801"/>
            </a:xfrm>
            <a:custGeom>
              <a:avLst/>
              <a:gdLst/>
              <a:ahLst/>
              <a:cxnLst/>
              <a:rect l="l" t="t" r="r" b="b"/>
              <a:pathLst>
                <a:path w="3566764" h="82801">
                  <a:moveTo>
                    <a:pt x="0" y="0"/>
                  </a:moveTo>
                  <a:lnTo>
                    <a:pt x="3566764" y="0"/>
                  </a:lnTo>
                  <a:lnTo>
                    <a:pt x="3566764" y="82801"/>
                  </a:lnTo>
                  <a:lnTo>
                    <a:pt x="0" y="82801"/>
                  </a:lnTo>
                  <a:close/>
                </a:path>
              </a:pathLst>
            </a:custGeom>
            <a:solidFill>
              <a:srgbClr val="0A4C4C"/>
            </a:solidFill>
          </p:spPr>
        </p:sp>
        <p:sp>
          <p:nvSpPr>
            <p:cNvPr id="14" name="TextBox 14"/>
            <p:cNvSpPr txBox="1"/>
            <p:nvPr/>
          </p:nvSpPr>
          <p:spPr>
            <a:xfrm>
              <a:off x="0" y="-38100"/>
              <a:ext cx="3566765" cy="12090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089021" y="-130674"/>
            <a:ext cx="2917270" cy="2812786"/>
            <a:chOff x="0" y="0"/>
            <a:chExt cx="633931" cy="611226"/>
          </a:xfrm>
        </p:grpSpPr>
        <p:sp>
          <p:nvSpPr>
            <p:cNvPr id="16" name="Freeform 16"/>
            <p:cNvSpPr/>
            <p:nvPr/>
          </p:nvSpPr>
          <p:spPr>
            <a:xfrm>
              <a:off x="0" y="0"/>
              <a:ext cx="633931" cy="611226"/>
            </a:xfrm>
            <a:custGeom>
              <a:avLst/>
              <a:gdLst/>
              <a:ahLst/>
              <a:cxnLst/>
              <a:rect l="l" t="t" r="r" b="b"/>
              <a:pathLst>
                <a:path w="633931" h="611226">
                  <a:moveTo>
                    <a:pt x="203200" y="0"/>
                  </a:moveTo>
                  <a:lnTo>
                    <a:pt x="633931" y="0"/>
                  </a:lnTo>
                  <a:lnTo>
                    <a:pt x="430731" y="611226"/>
                  </a:lnTo>
                  <a:lnTo>
                    <a:pt x="0" y="611226"/>
                  </a:lnTo>
                  <a:lnTo>
                    <a:pt x="203200" y="0"/>
                  </a:lnTo>
                  <a:close/>
                </a:path>
              </a:pathLst>
            </a:custGeom>
            <a:solidFill>
              <a:srgbClr val="158E8F"/>
            </a:solidFill>
          </p:spPr>
        </p:sp>
        <p:sp>
          <p:nvSpPr>
            <p:cNvPr id="17" name="TextBox 17"/>
            <p:cNvSpPr txBox="1"/>
            <p:nvPr/>
          </p:nvSpPr>
          <p:spPr>
            <a:xfrm>
              <a:off x="101600" y="-38100"/>
              <a:ext cx="430731" cy="6493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973670" y="9604756"/>
            <a:ext cx="1543050" cy="682244"/>
            <a:chOff x="0" y="0"/>
            <a:chExt cx="406400" cy="179686"/>
          </a:xfrm>
        </p:grpSpPr>
        <p:sp>
          <p:nvSpPr>
            <p:cNvPr id="19" name="Freeform 19"/>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0" name="TextBox 20"/>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39709" y="9604756"/>
            <a:ext cx="1543050" cy="682244"/>
            <a:chOff x="0" y="0"/>
            <a:chExt cx="406400" cy="179686"/>
          </a:xfrm>
        </p:grpSpPr>
        <p:sp>
          <p:nvSpPr>
            <p:cNvPr id="22" name="Freeform 22"/>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3" name="TextBox 23"/>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105748" y="9604756"/>
            <a:ext cx="1543050" cy="682244"/>
            <a:chOff x="0" y="0"/>
            <a:chExt cx="406400" cy="179686"/>
          </a:xfrm>
        </p:grpSpPr>
        <p:sp>
          <p:nvSpPr>
            <p:cNvPr id="25" name="Freeform 25"/>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0A4C4C"/>
            </a:solidFill>
          </p:spPr>
        </p:sp>
        <p:sp>
          <p:nvSpPr>
            <p:cNvPr id="26" name="TextBox 26"/>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0" y="9604756"/>
            <a:ext cx="498703" cy="682244"/>
            <a:chOff x="0" y="0"/>
            <a:chExt cx="406400" cy="555970"/>
          </a:xfrm>
        </p:grpSpPr>
        <p:sp>
          <p:nvSpPr>
            <p:cNvPr id="28" name="Freeform 28"/>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29" name="TextBox 29"/>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529997" y="9604756"/>
            <a:ext cx="498703" cy="682244"/>
            <a:chOff x="0" y="0"/>
            <a:chExt cx="406400" cy="555970"/>
          </a:xfrm>
        </p:grpSpPr>
        <p:sp>
          <p:nvSpPr>
            <p:cNvPr id="31" name="Freeform 31"/>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32" name="TextBox 32"/>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3344510" y="9258300"/>
            <a:ext cx="2326640" cy="1028700"/>
            <a:chOff x="0" y="0"/>
            <a:chExt cx="406400" cy="179686"/>
          </a:xfrm>
        </p:grpSpPr>
        <p:sp>
          <p:nvSpPr>
            <p:cNvPr id="34" name="Freeform 34"/>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158E8F"/>
            </a:solidFill>
          </p:spPr>
        </p:sp>
        <p:sp>
          <p:nvSpPr>
            <p:cNvPr id="35" name="TextBox 35"/>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6781735" y="-796920"/>
            <a:ext cx="1464533" cy="170418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7022668" y="-516562"/>
            <a:ext cx="982667" cy="1143467"/>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369904" y="626905"/>
            <a:ext cx="823662" cy="958443"/>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6505406" y="784580"/>
            <a:ext cx="552658" cy="643092"/>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505514" y="1275719"/>
            <a:ext cx="2674083" cy="3111660"/>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793523" y="1610857"/>
            <a:ext cx="2098064" cy="24413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38679" y="2012493"/>
            <a:ext cx="1407751" cy="1638110"/>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57" name="Freeform 57"/>
          <p:cNvSpPr/>
          <p:nvPr/>
        </p:nvSpPr>
        <p:spPr>
          <a:xfrm>
            <a:off x="2080573" y="1585348"/>
            <a:ext cx="14987016" cy="8544199"/>
          </a:xfrm>
          <a:custGeom>
            <a:avLst/>
            <a:gdLst/>
            <a:ahLst/>
            <a:cxnLst/>
            <a:rect l="l" t="t" r="r" b="b"/>
            <a:pathLst>
              <a:path w="14987016" h="8544199">
                <a:moveTo>
                  <a:pt x="0" y="0"/>
                </a:moveTo>
                <a:lnTo>
                  <a:pt x="14987016" y="0"/>
                </a:lnTo>
                <a:lnTo>
                  <a:pt x="14987016" y="8544199"/>
                </a:lnTo>
                <a:lnTo>
                  <a:pt x="0" y="8544199"/>
                </a:lnTo>
                <a:lnTo>
                  <a:pt x="0" y="0"/>
                </a:lnTo>
                <a:close/>
              </a:path>
            </a:pathLst>
          </a:custGeom>
          <a:blipFill>
            <a:blip r:embed="rId3"/>
            <a:stretch>
              <a:fillRect/>
            </a:stretch>
          </a:blipFill>
        </p:spPr>
      </p:sp>
      <p:sp>
        <p:nvSpPr>
          <p:cNvPr id="58" name="TextBox 58"/>
          <p:cNvSpPr txBox="1"/>
          <p:nvPr/>
        </p:nvSpPr>
        <p:spPr>
          <a:xfrm>
            <a:off x="6101285" y="744361"/>
            <a:ext cx="7744770" cy="602456"/>
          </a:xfrm>
          <a:prstGeom prst="rect">
            <a:avLst/>
          </a:prstGeom>
        </p:spPr>
        <p:txBody>
          <a:bodyPr lIns="0" tIns="0" rIns="0" bIns="0" rtlCol="0" anchor="t">
            <a:spAutoFit/>
          </a:bodyPr>
          <a:lstStyle/>
          <a:p>
            <a:pPr algn="ctr">
              <a:lnSpc>
                <a:spcPts val="4644"/>
              </a:lnSpc>
            </a:pPr>
            <a:r>
              <a:rPr lang="en-US" sz="4261" b="1">
                <a:solidFill>
                  <a:srgbClr val="FFFFFF"/>
                </a:solidFill>
                <a:latin typeface="Tomorrow Bold"/>
                <a:ea typeface="Tomorrow Bold"/>
                <a:cs typeface="Tomorrow Bold"/>
                <a:sym typeface="Tomorrow Bold"/>
              </a:rPr>
              <a:t>KPI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5441" y="1707214"/>
            <a:ext cx="13542559" cy="546693"/>
            <a:chOff x="0" y="0"/>
            <a:chExt cx="3566765" cy="143985"/>
          </a:xfrm>
        </p:grpSpPr>
        <p:sp>
          <p:nvSpPr>
            <p:cNvPr id="3" name="Freeform 3"/>
            <p:cNvSpPr/>
            <p:nvPr/>
          </p:nvSpPr>
          <p:spPr>
            <a:xfrm>
              <a:off x="0" y="0"/>
              <a:ext cx="3566764" cy="143985"/>
            </a:xfrm>
            <a:custGeom>
              <a:avLst/>
              <a:gdLst/>
              <a:ahLst/>
              <a:cxnLst/>
              <a:rect l="l" t="t" r="r" b="b"/>
              <a:pathLst>
                <a:path w="3566764" h="143985">
                  <a:moveTo>
                    <a:pt x="0" y="0"/>
                  </a:moveTo>
                  <a:lnTo>
                    <a:pt x="3566764" y="0"/>
                  </a:lnTo>
                  <a:lnTo>
                    <a:pt x="3566764" y="143985"/>
                  </a:lnTo>
                  <a:lnTo>
                    <a:pt x="0" y="143985"/>
                  </a:lnTo>
                  <a:close/>
                </a:path>
              </a:pathLst>
            </a:custGeom>
            <a:solidFill>
              <a:srgbClr val="0A4C4C"/>
            </a:solidFill>
          </p:spPr>
        </p:sp>
        <p:sp>
          <p:nvSpPr>
            <p:cNvPr id="4" name="TextBox 4"/>
            <p:cNvSpPr txBox="1"/>
            <p:nvPr/>
          </p:nvSpPr>
          <p:spPr>
            <a:xfrm>
              <a:off x="0" y="-38100"/>
              <a:ext cx="3566765" cy="18208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6614228" flipH="1">
            <a:off x="4278075" y="1183473"/>
            <a:ext cx="1888611" cy="1864574"/>
          </a:xfrm>
          <a:custGeom>
            <a:avLst/>
            <a:gdLst/>
            <a:ahLst/>
            <a:cxnLst/>
            <a:rect l="l" t="t" r="r" b="b"/>
            <a:pathLst>
              <a:path w="1888611" h="1864574">
                <a:moveTo>
                  <a:pt x="1888611" y="0"/>
                </a:moveTo>
                <a:lnTo>
                  <a:pt x="0" y="0"/>
                </a:lnTo>
                <a:lnTo>
                  <a:pt x="0" y="1864574"/>
                </a:lnTo>
                <a:lnTo>
                  <a:pt x="1888611" y="1864574"/>
                </a:lnTo>
                <a:lnTo>
                  <a:pt x="1888611"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128588"/>
            <a:ext cx="18234675" cy="2012445"/>
            <a:chOff x="0" y="0"/>
            <a:chExt cx="4802548" cy="530027"/>
          </a:xfrm>
        </p:grpSpPr>
        <p:sp>
          <p:nvSpPr>
            <p:cNvPr id="7" name="Freeform 7"/>
            <p:cNvSpPr/>
            <p:nvPr/>
          </p:nvSpPr>
          <p:spPr>
            <a:xfrm>
              <a:off x="0" y="0"/>
              <a:ext cx="4802548" cy="530027"/>
            </a:xfrm>
            <a:custGeom>
              <a:avLst/>
              <a:gdLst/>
              <a:ahLst/>
              <a:cxnLst/>
              <a:rect l="l" t="t" r="r" b="b"/>
              <a:pathLst>
                <a:path w="4802548" h="530027">
                  <a:moveTo>
                    <a:pt x="203200" y="0"/>
                  </a:moveTo>
                  <a:lnTo>
                    <a:pt x="4802548" y="0"/>
                  </a:lnTo>
                  <a:lnTo>
                    <a:pt x="4599348" y="530027"/>
                  </a:lnTo>
                  <a:lnTo>
                    <a:pt x="0" y="530027"/>
                  </a:lnTo>
                  <a:lnTo>
                    <a:pt x="203200" y="0"/>
                  </a:lnTo>
                  <a:close/>
                </a:path>
              </a:pathLst>
            </a:custGeom>
            <a:solidFill>
              <a:srgbClr val="41B3AF"/>
            </a:solidFill>
          </p:spPr>
        </p:sp>
        <p:sp>
          <p:nvSpPr>
            <p:cNvPr id="8" name="TextBox 8"/>
            <p:cNvSpPr txBox="1"/>
            <p:nvPr/>
          </p:nvSpPr>
          <p:spPr>
            <a:xfrm>
              <a:off x="101600" y="-38100"/>
              <a:ext cx="4599348" cy="56812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96172" y="9604756"/>
            <a:ext cx="11255645" cy="682244"/>
            <a:chOff x="0" y="0"/>
            <a:chExt cx="2964450" cy="179686"/>
          </a:xfrm>
        </p:grpSpPr>
        <p:sp>
          <p:nvSpPr>
            <p:cNvPr id="10" name="Freeform 10"/>
            <p:cNvSpPr/>
            <p:nvPr/>
          </p:nvSpPr>
          <p:spPr>
            <a:xfrm>
              <a:off x="0" y="0"/>
              <a:ext cx="2964450" cy="179686"/>
            </a:xfrm>
            <a:custGeom>
              <a:avLst/>
              <a:gdLst/>
              <a:ahLst/>
              <a:cxnLst/>
              <a:rect l="l" t="t" r="r" b="b"/>
              <a:pathLst>
                <a:path w="2964450" h="179686">
                  <a:moveTo>
                    <a:pt x="203200" y="0"/>
                  </a:moveTo>
                  <a:lnTo>
                    <a:pt x="2964450" y="0"/>
                  </a:lnTo>
                  <a:lnTo>
                    <a:pt x="2761250" y="179686"/>
                  </a:lnTo>
                  <a:lnTo>
                    <a:pt x="0" y="179686"/>
                  </a:lnTo>
                  <a:lnTo>
                    <a:pt x="203200" y="0"/>
                  </a:lnTo>
                  <a:close/>
                </a:path>
              </a:pathLst>
            </a:custGeom>
            <a:solidFill>
              <a:srgbClr val="41B3AF"/>
            </a:solidFill>
          </p:spPr>
        </p:sp>
        <p:sp>
          <p:nvSpPr>
            <p:cNvPr id="11" name="TextBox 11"/>
            <p:cNvSpPr txBox="1"/>
            <p:nvPr/>
          </p:nvSpPr>
          <p:spPr>
            <a:xfrm>
              <a:off x="101600" y="-38100"/>
              <a:ext cx="276125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745441" y="-78662"/>
            <a:ext cx="13542559" cy="314384"/>
            <a:chOff x="0" y="0"/>
            <a:chExt cx="3566765" cy="82801"/>
          </a:xfrm>
        </p:grpSpPr>
        <p:sp>
          <p:nvSpPr>
            <p:cNvPr id="13" name="Freeform 13"/>
            <p:cNvSpPr/>
            <p:nvPr/>
          </p:nvSpPr>
          <p:spPr>
            <a:xfrm>
              <a:off x="0" y="0"/>
              <a:ext cx="3566764" cy="82801"/>
            </a:xfrm>
            <a:custGeom>
              <a:avLst/>
              <a:gdLst/>
              <a:ahLst/>
              <a:cxnLst/>
              <a:rect l="l" t="t" r="r" b="b"/>
              <a:pathLst>
                <a:path w="3566764" h="82801">
                  <a:moveTo>
                    <a:pt x="0" y="0"/>
                  </a:moveTo>
                  <a:lnTo>
                    <a:pt x="3566764" y="0"/>
                  </a:lnTo>
                  <a:lnTo>
                    <a:pt x="3566764" y="82801"/>
                  </a:lnTo>
                  <a:lnTo>
                    <a:pt x="0" y="82801"/>
                  </a:lnTo>
                  <a:close/>
                </a:path>
              </a:pathLst>
            </a:custGeom>
            <a:solidFill>
              <a:srgbClr val="0A4C4C"/>
            </a:solidFill>
          </p:spPr>
        </p:sp>
        <p:sp>
          <p:nvSpPr>
            <p:cNvPr id="14" name="TextBox 14"/>
            <p:cNvSpPr txBox="1"/>
            <p:nvPr/>
          </p:nvSpPr>
          <p:spPr>
            <a:xfrm>
              <a:off x="0" y="-38100"/>
              <a:ext cx="3566765" cy="12090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070318" y="-128588"/>
            <a:ext cx="2917270" cy="2812786"/>
            <a:chOff x="0" y="0"/>
            <a:chExt cx="633931" cy="611226"/>
          </a:xfrm>
        </p:grpSpPr>
        <p:sp>
          <p:nvSpPr>
            <p:cNvPr id="16" name="Freeform 16"/>
            <p:cNvSpPr/>
            <p:nvPr/>
          </p:nvSpPr>
          <p:spPr>
            <a:xfrm>
              <a:off x="0" y="0"/>
              <a:ext cx="633931" cy="611226"/>
            </a:xfrm>
            <a:custGeom>
              <a:avLst/>
              <a:gdLst/>
              <a:ahLst/>
              <a:cxnLst/>
              <a:rect l="l" t="t" r="r" b="b"/>
              <a:pathLst>
                <a:path w="633931" h="611226">
                  <a:moveTo>
                    <a:pt x="203200" y="0"/>
                  </a:moveTo>
                  <a:lnTo>
                    <a:pt x="633931" y="0"/>
                  </a:lnTo>
                  <a:lnTo>
                    <a:pt x="430731" y="611226"/>
                  </a:lnTo>
                  <a:lnTo>
                    <a:pt x="0" y="611226"/>
                  </a:lnTo>
                  <a:lnTo>
                    <a:pt x="203200" y="0"/>
                  </a:lnTo>
                  <a:close/>
                </a:path>
              </a:pathLst>
            </a:custGeom>
            <a:solidFill>
              <a:srgbClr val="158E8F"/>
            </a:solidFill>
          </p:spPr>
        </p:sp>
        <p:sp>
          <p:nvSpPr>
            <p:cNvPr id="17" name="TextBox 17"/>
            <p:cNvSpPr txBox="1"/>
            <p:nvPr/>
          </p:nvSpPr>
          <p:spPr>
            <a:xfrm>
              <a:off x="101600" y="-38100"/>
              <a:ext cx="430731" cy="6493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973670" y="9604756"/>
            <a:ext cx="1543050" cy="682244"/>
            <a:chOff x="0" y="0"/>
            <a:chExt cx="406400" cy="179686"/>
          </a:xfrm>
        </p:grpSpPr>
        <p:sp>
          <p:nvSpPr>
            <p:cNvPr id="19" name="Freeform 19"/>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0" name="TextBox 20"/>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39709" y="9604756"/>
            <a:ext cx="1543050" cy="682244"/>
            <a:chOff x="0" y="0"/>
            <a:chExt cx="406400" cy="179686"/>
          </a:xfrm>
        </p:grpSpPr>
        <p:sp>
          <p:nvSpPr>
            <p:cNvPr id="22" name="Freeform 22"/>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3" name="TextBox 23"/>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105748" y="9604756"/>
            <a:ext cx="1543050" cy="682244"/>
            <a:chOff x="0" y="0"/>
            <a:chExt cx="406400" cy="179686"/>
          </a:xfrm>
        </p:grpSpPr>
        <p:sp>
          <p:nvSpPr>
            <p:cNvPr id="25" name="Freeform 25"/>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0A4C4C"/>
            </a:solidFill>
          </p:spPr>
        </p:sp>
        <p:sp>
          <p:nvSpPr>
            <p:cNvPr id="26" name="TextBox 26"/>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0" y="9604756"/>
            <a:ext cx="498703" cy="682244"/>
            <a:chOff x="0" y="0"/>
            <a:chExt cx="406400" cy="555970"/>
          </a:xfrm>
        </p:grpSpPr>
        <p:sp>
          <p:nvSpPr>
            <p:cNvPr id="28" name="Freeform 28"/>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29" name="TextBox 29"/>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529997" y="9604756"/>
            <a:ext cx="498703" cy="682244"/>
            <a:chOff x="0" y="0"/>
            <a:chExt cx="406400" cy="555970"/>
          </a:xfrm>
        </p:grpSpPr>
        <p:sp>
          <p:nvSpPr>
            <p:cNvPr id="31" name="Freeform 31"/>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32" name="TextBox 32"/>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3344510" y="9258300"/>
            <a:ext cx="2326640" cy="1028700"/>
            <a:chOff x="0" y="0"/>
            <a:chExt cx="406400" cy="179686"/>
          </a:xfrm>
        </p:grpSpPr>
        <p:sp>
          <p:nvSpPr>
            <p:cNvPr id="34" name="Freeform 34"/>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158E8F"/>
            </a:solidFill>
          </p:spPr>
        </p:sp>
        <p:sp>
          <p:nvSpPr>
            <p:cNvPr id="35" name="TextBox 35"/>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6781735" y="-796920"/>
            <a:ext cx="1464533" cy="170418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7022668" y="-516562"/>
            <a:ext cx="982667" cy="1143467"/>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369904" y="626905"/>
            <a:ext cx="823662" cy="958443"/>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6505406" y="784580"/>
            <a:ext cx="552658" cy="643092"/>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505514" y="1275719"/>
            <a:ext cx="2674083" cy="3111660"/>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793523" y="1610857"/>
            <a:ext cx="2098064" cy="24413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38679" y="2012493"/>
            <a:ext cx="1407751" cy="1638110"/>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57" name="TextBox 57"/>
          <p:cNvSpPr txBox="1"/>
          <p:nvPr/>
        </p:nvSpPr>
        <p:spPr>
          <a:xfrm>
            <a:off x="6101285" y="744361"/>
            <a:ext cx="7744770" cy="602456"/>
          </a:xfrm>
          <a:prstGeom prst="rect">
            <a:avLst/>
          </a:prstGeom>
        </p:spPr>
        <p:txBody>
          <a:bodyPr lIns="0" tIns="0" rIns="0" bIns="0" rtlCol="0" anchor="t">
            <a:spAutoFit/>
          </a:bodyPr>
          <a:lstStyle/>
          <a:p>
            <a:pPr algn="ctr">
              <a:lnSpc>
                <a:spcPts val="4644"/>
              </a:lnSpc>
            </a:pPr>
            <a:r>
              <a:rPr lang="en-US" sz="4261" b="1">
                <a:solidFill>
                  <a:srgbClr val="FFFFFF"/>
                </a:solidFill>
                <a:latin typeface="Tomorrow Bold"/>
                <a:ea typeface="Tomorrow Bold"/>
                <a:cs typeface="Tomorrow Bold"/>
                <a:sym typeface="Tomorrow Bold"/>
              </a:rPr>
              <a:t>KPI Analysis</a:t>
            </a:r>
          </a:p>
        </p:txBody>
      </p:sp>
      <p:sp>
        <p:nvSpPr>
          <p:cNvPr id="58" name="TextBox 58"/>
          <p:cNvSpPr txBox="1"/>
          <p:nvPr/>
        </p:nvSpPr>
        <p:spPr>
          <a:xfrm>
            <a:off x="2222718" y="2996857"/>
            <a:ext cx="6428780" cy="2647950"/>
          </a:xfrm>
          <a:prstGeom prst="rect">
            <a:avLst/>
          </a:prstGeom>
        </p:spPr>
        <p:txBody>
          <a:bodyPr lIns="0" tIns="0" rIns="0" bIns="0" rtlCol="0" anchor="t">
            <a:spAutoFit/>
          </a:bodyPr>
          <a:lstStyle/>
          <a:p>
            <a:pPr algn="l">
              <a:lnSpc>
                <a:spcPts val="4200"/>
              </a:lnSpc>
            </a:pPr>
            <a:r>
              <a:rPr lang="en-US" sz="3000">
                <a:solidFill>
                  <a:srgbClr val="000000"/>
                </a:solidFill>
                <a:latin typeface="Canva Sans"/>
                <a:ea typeface="Canva Sans"/>
                <a:cs typeface="Canva Sans"/>
                <a:sym typeface="Canva Sans"/>
              </a:rPr>
              <a:t>🔹 1. Total Transactions</a:t>
            </a:r>
          </a:p>
          <a:p>
            <a:pPr algn="l">
              <a:lnSpc>
                <a:spcPts val="4200"/>
              </a:lnSpc>
            </a:pPr>
            <a:r>
              <a:rPr lang="en-US" sz="3000">
                <a:solidFill>
                  <a:srgbClr val="000000"/>
                </a:solidFill>
                <a:latin typeface="Canva Sans"/>
                <a:ea typeface="Canva Sans"/>
                <a:cs typeface="Canva Sans"/>
                <a:sym typeface="Canva Sans"/>
              </a:rPr>
              <a:t>Total Transactions: 284,807</a:t>
            </a:r>
          </a:p>
          <a:p>
            <a:pPr algn="l">
              <a:lnSpc>
                <a:spcPts val="4200"/>
              </a:lnSpc>
            </a:pPr>
            <a:r>
              <a:rPr lang="en-US" sz="3000">
                <a:solidFill>
                  <a:srgbClr val="000000"/>
                </a:solidFill>
                <a:latin typeface="Canva Sans"/>
                <a:ea typeface="Canva Sans"/>
                <a:cs typeface="Canva Sans"/>
                <a:sym typeface="Canva Sans"/>
              </a:rPr>
              <a:t>Represents overall dataset size</a:t>
            </a:r>
          </a:p>
          <a:p>
            <a:pPr algn="l">
              <a:lnSpc>
                <a:spcPts val="4200"/>
              </a:lnSpc>
            </a:pPr>
            <a:r>
              <a:rPr lang="en-US" sz="3000">
                <a:solidFill>
                  <a:srgbClr val="000000"/>
                </a:solidFill>
                <a:latin typeface="Canva Sans"/>
                <a:ea typeface="Canva Sans"/>
                <a:cs typeface="Canva Sans"/>
                <a:sym typeface="Canva Sans"/>
              </a:rPr>
              <a:t>Includes both fraud and non-fraud </a:t>
            </a:r>
          </a:p>
          <a:p>
            <a:pPr algn="l">
              <a:lnSpc>
                <a:spcPts val="4200"/>
              </a:lnSpc>
            </a:pPr>
            <a:r>
              <a:rPr lang="en-US" sz="3000">
                <a:solidFill>
                  <a:srgbClr val="000000"/>
                </a:solidFill>
                <a:latin typeface="Canva Sans"/>
                <a:ea typeface="Canva Sans"/>
                <a:cs typeface="Canva Sans"/>
                <a:sym typeface="Canva Sans"/>
              </a:rPr>
              <a:t>transactions.</a:t>
            </a:r>
          </a:p>
        </p:txBody>
      </p:sp>
      <p:sp>
        <p:nvSpPr>
          <p:cNvPr id="59" name="TextBox 59"/>
          <p:cNvSpPr txBox="1"/>
          <p:nvPr/>
        </p:nvSpPr>
        <p:spPr>
          <a:xfrm>
            <a:off x="2070318" y="6264963"/>
            <a:ext cx="6581180" cy="2647950"/>
          </a:xfrm>
          <a:prstGeom prst="rect">
            <a:avLst/>
          </a:prstGeom>
        </p:spPr>
        <p:txBody>
          <a:bodyPr lIns="0" tIns="0" rIns="0" bIns="0" rtlCol="0" anchor="t">
            <a:spAutoFit/>
          </a:bodyPr>
          <a:lstStyle/>
          <a:p>
            <a:pPr algn="l">
              <a:lnSpc>
                <a:spcPts val="4200"/>
              </a:lnSpc>
            </a:pPr>
            <a:r>
              <a:rPr lang="en-US" sz="3000">
                <a:solidFill>
                  <a:srgbClr val="000000"/>
                </a:solidFill>
                <a:latin typeface="Canva Sans"/>
                <a:ea typeface="Canva Sans"/>
                <a:cs typeface="Canva Sans"/>
                <a:sym typeface="Canva Sans"/>
              </a:rPr>
              <a:t>🔹 2. Total Fraud Transactions</a:t>
            </a:r>
          </a:p>
          <a:p>
            <a:pPr algn="l">
              <a:lnSpc>
                <a:spcPts val="4200"/>
              </a:lnSpc>
            </a:pPr>
            <a:r>
              <a:rPr lang="en-US" sz="3000">
                <a:solidFill>
                  <a:srgbClr val="000000"/>
                </a:solidFill>
                <a:latin typeface="Canva Sans"/>
                <a:ea typeface="Canva Sans"/>
                <a:cs typeface="Canva Sans"/>
                <a:sym typeface="Canva Sans"/>
              </a:rPr>
              <a:t>Fraud Transactions: 492</a:t>
            </a:r>
          </a:p>
          <a:p>
            <a:pPr algn="l">
              <a:lnSpc>
                <a:spcPts val="4200"/>
              </a:lnSpc>
            </a:pPr>
            <a:r>
              <a:rPr lang="en-US" sz="3000">
                <a:solidFill>
                  <a:srgbClr val="000000"/>
                </a:solidFill>
                <a:latin typeface="Canva Sans"/>
                <a:ea typeface="Canva Sans"/>
                <a:cs typeface="Canva Sans"/>
                <a:sym typeface="Canva Sans"/>
              </a:rPr>
              <a:t>Very small portion of total transactions Indicates rarity of fraud cases.</a:t>
            </a:r>
          </a:p>
        </p:txBody>
      </p:sp>
      <p:sp>
        <p:nvSpPr>
          <p:cNvPr id="60" name="TextBox 60"/>
          <p:cNvSpPr txBox="1"/>
          <p:nvPr/>
        </p:nvSpPr>
        <p:spPr>
          <a:xfrm>
            <a:off x="9759308" y="2996857"/>
            <a:ext cx="7034215" cy="2647950"/>
          </a:xfrm>
          <a:prstGeom prst="rect">
            <a:avLst/>
          </a:prstGeom>
        </p:spPr>
        <p:txBody>
          <a:bodyPr lIns="0" tIns="0" rIns="0" bIns="0" rtlCol="0" anchor="t">
            <a:spAutoFit/>
          </a:bodyPr>
          <a:lstStyle/>
          <a:p>
            <a:pPr algn="l">
              <a:lnSpc>
                <a:spcPts val="4200"/>
              </a:lnSpc>
            </a:pPr>
            <a:r>
              <a:rPr lang="en-US" sz="3000">
                <a:solidFill>
                  <a:srgbClr val="000000"/>
                </a:solidFill>
                <a:latin typeface="Canva Sans"/>
                <a:ea typeface="Canva Sans"/>
                <a:cs typeface="Canva Sans"/>
                <a:sym typeface="Canva Sans"/>
              </a:rPr>
              <a:t>🔹 3. Fraud Rate (%)</a:t>
            </a:r>
          </a:p>
          <a:p>
            <a:pPr algn="l">
              <a:lnSpc>
                <a:spcPts val="4200"/>
              </a:lnSpc>
            </a:pPr>
            <a:r>
              <a:rPr lang="en-US" sz="3000">
                <a:solidFill>
                  <a:srgbClr val="000000"/>
                </a:solidFill>
                <a:latin typeface="Canva Sans"/>
                <a:ea typeface="Canva Sans"/>
                <a:cs typeface="Canva Sans"/>
                <a:sym typeface="Canva Sans"/>
              </a:rPr>
              <a:t>Fraud Rate: ~0.17%</a:t>
            </a:r>
          </a:p>
          <a:p>
            <a:pPr algn="l">
              <a:lnSpc>
                <a:spcPts val="4200"/>
              </a:lnSpc>
            </a:pPr>
            <a:r>
              <a:rPr lang="en-US" sz="3000">
                <a:solidFill>
                  <a:srgbClr val="000000"/>
                </a:solidFill>
                <a:latin typeface="Canva Sans"/>
                <a:ea typeface="Canva Sans"/>
                <a:cs typeface="Canva Sans"/>
                <a:sym typeface="Canva Sans"/>
              </a:rPr>
              <a:t>Indicates percentage of fraud transactions Shows high class imbalance</a:t>
            </a:r>
          </a:p>
        </p:txBody>
      </p:sp>
      <p:sp>
        <p:nvSpPr>
          <p:cNvPr id="61" name="TextBox 61"/>
          <p:cNvSpPr txBox="1"/>
          <p:nvPr/>
        </p:nvSpPr>
        <p:spPr>
          <a:xfrm>
            <a:off x="9487089" y="6091847"/>
            <a:ext cx="6184060" cy="2647770"/>
          </a:xfrm>
          <a:prstGeom prst="rect">
            <a:avLst/>
          </a:prstGeom>
        </p:spPr>
        <p:txBody>
          <a:bodyPr lIns="0" tIns="0" rIns="0" bIns="0" rtlCol="0" anchor="t">
            <a:spAutoFit/>
          </a:bodyPr>
          <a:lstStyle/>
          <a:p>
            <a:pPr algn="l">
              <a:lnSpc>
                <a:spcPts val="4209"/>
              </a:lnSpc>
            </a:pPr>
            <a:r>
              <a:rPr lang="en-US" sz="3007">
                <a:solidFill>
                  <a:srgbClr val="000000"/>
                </a:solidFill>
                <a:latin typeface="Canva Sans"/>
                <a:ea typeface="Canva Sans"/>
                <a:cs typeface="Canva Sans"/>
                <a:sym typeface="Canva Sans"/>
              </a:rPr>
              <a:t>🔹 4. Average Fraud Amount</a:t>
            </a:r>
          </a:p>
          <a:p>
            <a:pPr algn="l">
              <a:lnSpc>
                <a:spcPts val="4209"/>
              </a:lnSpc>
            </a:pPr>
            <a:r>
              <a:rPr lang="en-US" sz="3007">
                <a:solidFill>
                  <a:srgbClr val="000000"/>
                </a:solidFill>
                <a:latin typeface="Canva Sans"/>
                <a:ea typeface="Canva Sans"/>
                <a:cs typeface="Canva Sans"/>
                <a:sym typeface="Canva Sans"/>
              </a:rPr>
              <a:t>Average Fraud Amount: ₹ / value from Tableau Helps understand fraud transaction value Useful for financial risk estimation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5441" y="1707214"/>
            <a:ext cx="13542559" cy="546693"/>
            <a:chOff x="0" y="0"/>
            <a:chExt cx="3566765" cy="143985"/>
          </a:xfrm>
        </p:grpSpPr>
        <p:sp>
          <p:nvSpPr>
            <p:cNvPr id="3" name="Freeform 3"/>
            <p:cNvSpPr/>
            <p:nvPr/>
          </p:nvSpPr>
          <p:spPr>
            <a:xfrm>
              <a:off x="0" y="0"/>
              <a:ext cx="3566764" cy="143985"/>
            </a:xfrm>
            <a:custGeom>
              <a:avLst/>
              <a:gdLst/>
              <a:ahLst/>
              <a:cxnLst/>
              <a:rect l="l" t="t" r="r" b="b"/>
              <a:pathLst>
                <a:path w="3566764" h="143985">
                  <a:moveTo>
                    <a:pt x="0" y="0"/>
                  </a:moveTo>
                  <a:lnTo>
                    <a:pt x="3566764" y="0"/>
                  </a:lnTo>
                  <a:lnTo>
                    <a:pt x="3566764" y="143985"/>
                  </a:lnTo>
                  <a:lnTo>
                    <a:pt x="0" y="143985"/>
                  </a:lnTo>
                  <a:close/>
                </a:path>
              </a:pathLst>
            </a:custGeom>
            <a:solidFill>
              <a:srgbClr val="0A4C4C"/>
            </a:solidFill>
          </p:spPr>
        </p:sp>
        <p:sp>
          <p:nvSpPr>
            <p:cNvPr id="4" name="TextBox 4"/>
            <p:cNvSpPr txBox="1"/>
            <p:nvPr/>
          </p:nvSpPr>
          <p:spPr>
            <a:xfrm>
              <a:off x="0" y="-38100"/>
              <a:ext cx="3566765" cy="18208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6614228" flipH="1">
            <a:off x="4278075" y="1183473"/>
            <a:ext cx="1888611" cy="1864574"/>
          </a:xfrm>
          <a:custGeom>
            <a:avLst/>
            <a:gdLst/>
            <a:ahLst/>
            <a:cxnLst/>
            <a:rect l="l" t="t" r="r" b="b"/>
            <a:pathLst>
              <a:path w="1888611" h="1864574">
                <a:moveTo>
                  <a:pt x="1888611" y="0"/>
                </a:moveTo>
                <a:lnTo>
                  <a:pt x="0" y="0"/>
                </a:lnTo>
                <a:lnTo>
                  <a:pt x="0" y="1864574"/>
                </a:lnTo>
                <a:lnTo>
                  <a:pt x="1888611" y="1864574"/>
                </a:lnTo>
                <a:lnTo>
                  <a:pt x="1888611"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128588"/>
            <a:ext cx="18234675" cy="2012445"/>
            <a:chOff x="0" y="0"/>
            <a:chExt cx="4802548" cy="530027"/>
          </a:xfrm>
        </p:grpSpPr>
        <p:sp>
          <p:nvSpPr>
            <p:cNvPr id="7" name="Freeform 7"/>
            <p:cNvSpPr/>
            <p:nvPr/>
          </p:nvSpPr>
          <p:spPr>
            <a:xfrm>
              <a:off x="0" y="0"/>
              <a:ext cx="4802548" cy="530027"/>
            </a:xfrm>
            <a:custGeom>
              <a:avLst/>
              <a:gdLst/>
              <a:ahLst/>
              <a:cxnLst/>
              <a:rect l="l" t="t" r="r" b="b"/>
              <a:pathLst>
                <a:path w="4802548" h="530027">
                  <a:moveTo>
                    <a:pt x="203200" y="0"/>
                  </a:moveTo>
                  <a:lnTo>
                    <a:pt x="4802548" y="0"/>
                  </a:lnTo>
                  <a:lnTo>
                    <a:pt x="4599348" y="530027"/>
                  </a:lnTo>
                  <a:lnTo>
                    <a:pt x="0" y="530027"/>
                  </a:lnTo>
                  <a:lnTo>
                    <a:pt x="203200" y="0"/>
                  </a:lnTo>
                  <a:close/>
                </a:path>
              </a:pathLst>
            </a:custGeom>
            <a:solidFill>
              <a:srgbClr val="41B3AF"/>
            </a:solidFill>
          </p:spPr>
        </p:sp>
        <p:sp>
          <p:nvSpPr>
            <p:cNvPr id="8" name="TextBox 8"/>
            <p:cNvSpPr txBox="1"/>
            <p:nvPr/>
          </p:nvSpPr>
          <p:spPr>
            <a:xfrm>
              <a:off x="101600" y="-38100"/>
              <a:ext cx="4599348" cy="56812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96172" y="9604756"/>
            <a:ext cx="11255645" cy="682244"/>
            <a:chOff x="0" y="0"/>
            <a:chExt cx="2964450" cy="179686"/>
          </a:xfrm>
        </p:grpSpPr>
        <p:sp>
          <p:nvSpPr>
            <p:cNvPr id="10" name="Freeform 10"/>
            <p:cNvSpPr/>
            <p:nvPr/>
          </p:nvSpPr>
          <p:spPr>
            <a:xfrm>
              <a:off x="0" y="0"/>
              <a:ext cx="2964450" cy="179686"/>
            </a:xfrm>
            <a:custGeom>
              <a:avLst/>
              <a:gdLst/>
              <a:ahLst/>
              <a:cxnLst/>
              <a:rect l="l" t="t" r="r" b="b"/>
              <a:pathLst>
                <a:path w="2964450" h="179686">
                  <a:moveTo>
                    <a:pt x="203200" y="0"/>
                  </a:moveTo>
                  <a:lnTo>
                    <a:pt x="2964450" y="0"/>
                  </a:lnTo>
                  <a:lnTo>
                    <a:pt x="2761250" y="179686"/>
                  </a:lnTo>
                  <a:lnTo>
                    <a:pt x="0" y="179686"/>
                  </a:lnTo>
                  <a:lnTo>
                    <a:pt x="203200" y="0"/>
                  </a:lnTo>
                  <a:close/>
                </a:path>
              </a:pathLst>
            </a:custGeom>
            <a:solidFill>
              <a:srgbClr val="41B3AF"/>
            </a:solidFill>
          </p:spPr>
        </p:sp>
        <p:sp>
          <p:nvSpPr>
            <p:cNvPr id="11" name="TextBox 11"/>
            <p:cNvSpPr txBox="1"/>
            <p:nvPr/>
          </p:nvSpPr>
          <p:spPr>
            <a:xfrm>
              <a:off x="101600" y="-38100"/>
              <a:ext cx="276125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745441" y="-78662"/>
            <a:ext cx="13542559" cy="314384"/>
            <a:chOff x="0" y="0"/>
            <a:chExt cx="3566765" cy="82801"/>
          </a:xfrm>
        </p:grpSpPr>
        <p:sp>
          <p:nvSpPr>
            <p:cNvPr id="13" name="Freeform 13"/>
            <p:cNvSpPr/>
            <p:nvPr/>
          </p:nvSpPr>
          <p:spPr>
            <a:xfrm>
              <a:off x="0" y="0"/>
              <a:ext cx="3566764" cy="82801"/>
            </a:xfrm>
            <a:custGeom>
              <a:avLst/>
              <a:gdLst/>
              <a:ahLst/>
              <a:cxnLst/>
              <a:rect l="l" t="t" r="r" b="b"/>
              <a:pathLst>
                <a:path w="3566764" h="82801">
                  <a:moveTo>
                    <a:pt x="0" y="0"/>
                  </a:moveTo>
                  <a:lnTo>
                    <a:pt x="3566764" y="0"/>
                  </a:lnTo>
                  <a:lnTo>
                    <a:pt x="3566764" y="82801"/>
                  </a:lnTo>
                  <a:lnTo>
                    <a:pt x="0" y="82801"/>
                  </a:lnTo>
                  <a:close/>
                </a:path>
              </a:pathLst>
            </a:custGeom>
            <a:solidFill>
              <a:srgbClr val="0A4C4C"/>
            </a:solidFill>
          </p:spPr>
        </p:sp>
        <p:sp>
          <p:nvSpPr>
            <p:cNvPr id="14" name="TextBox 14"/>
            <p:cNvSpPr txBox="1"/>
            <p:nvPr/>
          </p:nvSpPr>
          <p:spPr>
            <a:xfrm>
              <a:off x="0" y="-38100"/>
              <a:ext cx="3566765" cy="12090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070318" y="-128588"/>
            <a:ext cx="2917270" cy="2812786"/>
            <a:chOff x="0" y="0"/>
            <a:chExt cx="633931" cy="611226"/>
          </a:xfrm>
        </p:grpSpPr>
        <p:sp>
          <p:nvSpPr>
            <p:cNvPr id="16" name="Freeform 16"/>
            <p:cNvSpPr/>
            <p:nvPr/>
          </p:nvSpPr>
          <p:spPr>
            <a:xfrm>
              <a:off x="0" y="0"/>
              <a:ext cx="633931" cy="611226"/>
            </a:xfrm>
            <a:custGeom>
              <a:avLst/>
              <a:gdLst/>
              <a:ahLst/>
              <a:cxnLst/>
              <a:rect l="l" t="t" r="r" b="b"/>
              <a:pathLst>
                <a:path w="633931" h="611226">
                  <a:moveTo>
                    <a:pt x="203200" y="0"/>
                  </a:moveTo>
                  <a:lnTo>
                    <a:pt x="633931" y="0"/>
                  </a:lnTo>
                  <a:lnTo>
                    <a:pt x="430731" y="611226"/>
                  </a:lnTo>
                  <a:lnTo>
                    <a:pt x="0" y="611226"/>
                  </a:lnTo>
                  <a:lnTo>
                    <a:pt x="203200" y="0"/>
                  </a:lnTo>
                  <a:close/>
                </a:path>
              </a:pathLst>
            </a:custGeom>
            <a:solidFill>
              <a:srgbClr val="158E8F"/>
            </a:solidFill>
          </p:spPr>
        </p:sp>
        <p:sp>
          <p:nvSpPr>
            <p:cNvPr id="17" name="TextBox 17"/>
            <p:cNvSpPr txBox="1"/>
            <p:nvPr/>
          </p:nvSpPr>
          <p:spPr>
            <a:xfrm>
              <a:off x="101600" y="-38100"/>
              <a:ext cx="430731" cy="6493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973670" y="9604756"/>
            <a:ext cx="1543050" cy="682244"/>
            <a:chOff x="0" y="0"/>
            <a:chExt cx="406400" cy="179686"/>
          </a:xfrm>
        </p:grpSpPr>
        <p:sp>
          <p:nvSpPr>
            <p:cNvPr id="19" name="Freeform 19"/>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0" name="TextBox 20"/>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39709" y="9604756"/>
            <a:ext cx="1543050" cy="682244"/>
            <a:chOff x="0" y="0"/>
            <a:chExt cx="406400" cy="179686"/>
          </a:xfrm>
        </p:grpSpPr>
        <p:sp>
          <p:nvSpPr>
            <p:cNvPr id="22" name="Freeform 22"/>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3" name="TextBox 23"/>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105748" y="9604756"/>
            <a:ext cx="1543050" cy="682244"/>
            <a:chOff x="0" y="0"/>
            <a:chExt cx="406400" cy="179686"/>
          </a:xfrm>
        </p:grpSpPr>
        <p:sp>
          <p:nvSpPr>
            <p:cNvPr id="25" name="Freeform 25"/>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0A4C4C"/>
            </a:solidFill>
          </p:spPr>
        </p:sp>
        <p:sp>
          <p:nvSpPr>
            <p:cNvPr id="26" name="TextBox 26"/>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0" y="9604756"/>
            <a:ext cx="498703" cy="682244"/>
            <a:chOff x="0" y="0"/>
            <a:chExt cx="406400" cy="555970"/>
          </a:xfrm>
        </p:grpSpPr>
        <p:sp>
          <p:nvSpPr>
            <p:cNvPr id="28" name="Freeform 28"/>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29" name="TextBox 29"/>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529997" y="9604756"/>
            <a:ext cx="498703" cy="682244"/>
            <a:chOff x="0" y="0"/>
            <a:chExt cx="406400" cy="555970"/>
          </a:xfrm>
        </p:grpSpPr>
        <p:sp>
          <p:nvSpPr>
            <p:cNvPr id="31" name="Freeform 31"/>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32" name="TextBox 32"/>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3344510" y="9258300"/>
            <a:ext cx="2326640" cy="1028700"/>
            <a:chOff x="0" y="0"/>
            <a:chExt cx="406400" cy="179686"/>
          </a:xfrm>
        </p:grpSpPr>
        <p:sp>
          <p:nvSpPr>
            <p:cNvPr id="34" name="Freeform 34"/>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158E8F"/>
            </a:solidFill>
          </p:spPr>
        </p:sp>
        <p:sp>
          <p:nvSpPr>
            <p:cNvPr id="35" name="TextBox 35"/>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6781735" y="-796920"/>
            <a:ext cx="1464533" cy="170418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7022668" y="-516562"/>
            <a:ext cx="982667" cy="1143467"/>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369904" y="626905"/>
            <a:ext cx="823662" cy="958443"/>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6505406" y="784580"/>
            <a:ext cx="552658" cy="643092"/>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505514" y="1275719"/>
            <a:ext cx="2674083" cy="3111660"/>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793523" y="1610857"/>
            <a:ext cx="2098064" cy="24413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38679" y="2012493"/>
            <a:ext cx="1407751" cy="1638110"/>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57" name="TextBox 57"/>
          <p:cNvSpPr txBox="1"/>
          <p:nvPr/>
        </p:nvSpPr>
        <p:spPr>
          <a:xfrm>
            <a:off x="6101285" y="744361"/>
            <a:ext cx="7744770" cy="602456"/>
          </a:xfrm>
          <a:prstGeom prst="rect">
            <a:avLst/>
          </a:prstGeom>
        </p:spPr>
        <p:txBody>
          <a:bodyPr lIns="0" tIns="0" rIns="0" bIns="0" rtlCol="0" anchor="t">
            <a:spAutoFit/>
          </a:bodyPr>
          <a:lstStyle/>
          <a:p>
            <a:pPr algn="ctr">
              <a:lnSpc>
                <a:spcPts val="4644"/>
              </a:lnSpc>
            </a:pPr>
            <a:r>
              <a:rPr lang="en-US" sz="4261" b="1">
                <a:solidFill>
                  <a:srgbClr val="FFFFFF"/>
                </a:solidFill>
                <a:latin typeface="Tomorrow Bold"/>
                <a:ea typeface="Tomorrow Bold"/>
                <a:cs typeface="Tomorrow Bold"/>
                <a:sym typeface="Tomorrow Bold"/>
              </a:rPr>
              <a:t>KPI Analysis</a:t>
            </a:r>
          </a:p>
        </p:txBody>
      </p:sp>
      <p:sp>
        <p:nvSpPr>
          <p:cNvPr id="58" name="TextBox 58"/>
          <p:cNvSpPr txBox="1"/>
          <p:nvPr/>
        </p:nvSpPr>
        <p:spPr>
          <a:xfrm>
            <a:off x="1899045" y="3454573"/>
            <a:ext cx="7194260" cy="2114550"/>
          </a:xfrm>
          <a:prstGeom prst="rect">
            <a:avLst/>
          </a:prstGeom>
        </p:spPr>
        <p:txBody>
          <a:bodyPr lIns="0" tIns="0" rIns="0" bIns="0" rtlCol="0" anchor="t">
            <a:spAutoFit/>
          </a:bodyPr>
          <a:lstStyle/>
          <a:p>
            <a:pPr algn="l">
              <a:lnSpc>
                <a:spcPts val="4200"/>
              </a:lnSpc>
            </a:pPr>
            <a:r>
              <a:rPr lang="en-US" sz="3000">
                <a:solidFill>
                  <a:srgbClr val="000000"/>
                </a:solidFill>
                <a:latin typeface="Canva Sans"/>
                <a:ea typeface="Canva Sans"/>
                <a:cs typeface="Canva Sans"/>
                <a:sym typeface="Canva Sans"/>
              </a:rPr>
              <a:t>🔹 5. Fraud vs Non-Fraud (Bar Chart)</a:t>
            </a:r>
          </a:p>
          <a:p>
            <a:pPr algn="l">
              <a:lnSpc>
                <a:spcPts val="4200"/>
              </a:lnSpc>
            </a:pPr>
            <a:r>
              <a:rPr lang="en-US" sz="3000">
                <a:solidFill>
                  <a:srgbClr val="000000"/>
                </a:solidFill>
                <a:latin typeface="Canva Sans"/>
                <a:ea typeface="Canva Sans"/>
                <a:cs typeface="Canva Sans"/>
                <a:sym typeface="Canva Sans"/>
              </a:rPr>
              <a:t>Non-Fraud transactions dominate dataset Fraud transactions are very few Strong imbalance observed</a:t>
            </a:r>
          </a:p>
        </p:txBody>
      </p:sp>
      <p:sp>
        <p:nvSpPr>
          <p:cNvPr id="59" name="TextBox 59"/>
          <p:cNvSpPr txBox="1"/>
          <p:nvPr/>
        </p:nvSpPr>
        <p:spPr>
          <a:xfrm>
            <a:off x="9493522" y="3295682"/>
            <a:ext cx="6876382" cy="2114550"/>
          </a:xfrm>
          <a:prstGeom prst="rect">
            <a:avLst/>
          </a:prstGeom>
        </p:spPr>
        <p:txBody>
          <a:bodyPr lIns="0" tIns="0" rIns="0" bIns="0" rtlCol="0" anchor="t">
            <a:spAutoFit/>
          </a:bodyPr>
          <a:lstStyle/>
          <a:p>
            <a:pPr algn="l">
              <a:lnSpc>
                <a:spcPts val="4200"/>
              </a:lnSpc>
            </a:pPr>
            <a:r>
              <a:rPr lang="en-US" sz="3000">
                <a:solidFill>
                  <a:srgbClr val="000000"/>
                </a:solidFill>
                <a:latin typeface="Canva Sans"/>
                <a:ea typeface="Canva Sans"/>
                <a:cs typeface="Canva Sans"/>
                <a:sym typeface="Canva Sans"/>
              </a:rPr>
              <a:t>🔹 6. Fraud Distribution (Pie Chart)</a:t>
            </a:r>
          </a:p>
          <a:p>
            <a:pPr algn="l">
              <a:lnSpc>
                <a:spcPts val="4200"/>
              </a:lnSpc>
            </a:pPr>
            <a:r>
              <a:rPr lang="en-US" sz="3000">
                <a:solidFill>
                  <a:srgbClr val="000000"/>
                </a:solidFill>
                <a:latin typeface="Canva Sans"/>
                <a:ea typeface="Canva Sans"/>
                <a:cs typeface="Canva Sans"/>
                <a:sym typeface="Canva Sans"/>
              </a:rPr>
              <a:t>Fraud: ~0.17%</a:t>
            </a:r>
          </a:p>
          <a:p>
            <a:pPr algn="l">
              <a:lnSpc>
                <a:spcPts val="4200"/>
              </a:lnSpc>
            </a:pPr>
            <a:r>
              <a:rPr lang="en-US" sz="3000">
                <a:solidFill>
                  <a:srgbClr val="000000"/>
                </a:solidFill>
                <a:latin typeface="Canva Sans"/>
                <a:ea typeface="Canva Sans"/>
                <a:cs typeface="Canva Sans"/>
                <a:sym typeface="Canva Sans"/>
              </a:rPr>
              <a:t>Non-Fraud: ~99.83%</a:t>
            </a:r>
          </a:p>
          <a:p>
            <a:pPr algn="l">
              <a:lnSpc>
                <a:spcPts val="4200"/>
              </a:lnSpc>
            </a:pPr>
            <a:r>
              <a:rPr lang="en-US" sz="3000">
                <a:solidFill>
                  <a:srgbClr val="000000"/>
                </a:solidFill>
                <a:latin typeface="Canva Sans"/>
                <a:ea typeface="Canva Sans"/>
                <a:cs typeface="Canva Sans"/>
                <a:sym typeface="Canva Sans"/>
              </a:rPr>
              <a:t>Visual representation of imbalance</a:t>
            </a:r>
          </a:p>
        </p:txBody>
      </p:sp>
      <p:sp>
        <p:nvSpPr>
          <p:cNvPr id="60" name="TextBox 60"/>
          <p:cNvSpPr txBox="1"/>
          <p:nvPr/>
        </p:nvSpPr>
        <p:spPr>
          <a:xfrm>
            <a:off x="1494406" y="6512613"/>
            <a:ext cx="15287329" cy="2380615"/>
          </a:xfrm>
          <a:prstGeom prst="rect">
            <a:avLst/>
          </a:prstGeom>
        </p:spPr>
        <p:txBody>
          <a:bodyPr lIns="0" tIns="0" rIns="0" bIns="0" rtlCol="0" anchor="t">
            <a:spAutoFit/>
          </a:bodyPr>
          <a:lstStyle/>
          <a:p>
            <a:pPr algn="ctr">
              <a:lnSpc>
                <a:spcPts val="4759"/>
              </a:lnSpc>
            </a:pPr>
            <a:r>
              <a:rPr lang="en-US" sz="3399">
                <a:solidFill>
                  <a:srgbClr val="000000"/>
                </a:solidFill>
                <a:latin typeface="Canva Sans"/>
                <a:ea typeface="Canva Sans"/>
                <a:cs typeface="Canva Sans"/>
                <a:sym typeface="Canva Sans"/>
              </a:rPr>
              <a:t>“From the KPI analysis, we conclude that the dataset is highly imbalanced, with very few fraud cases. However, these cases are critical due to their financial impact. Therefore, effective fraud detection requires advanced analytical techniques.”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5441" y="1707214"/>
            <a:ext cx="13542559" cy="546693"/>
            <a:chOff x="0" y="0"/>
            <a:chExt cx="3566765" cy="143985"/>
          </a:xfrm>
        </p:grpSpPr>
        <p:sp>
          <p:nvSpPr>
            <p:cNvPr id="3" name="Freeform 3"/>
            <p:cNvSpPr/>
            <p:nvPr/>
          </p:nvSpPr>
          <p:spPr>
            <a:xfrm>
              <a:off x="0" y="0"/>
              <a:ext cx="3566764" cy="143985"/>
            </a:xfrm>
            <a:custGeom>
              <a:avLst/>
              <a:gdLst/>
              <a:ahLst/>
              <a:cxnLst/>
              <a:rect l="l" t="t" r="r" b="b"/>
              <a:pathLst>
                <a:path w="3566764" h="143985">
                  <a:moveTo>
                    <a:pt x="0" y="0"/>
                  </a:moveTo>
                  <a:lnTo>
                    <a:pt x="3566764" y="0"/>
                  </a:lnTo>
                  <a:lnTo>
                    <a:pt x="3566764" y="143985"/>
                  </a:lnTo>
                  <a:lnTo>
                    <a:pt x="0" y="143985"/>
                  </a:lnTo>
                  <a:close/>
                </a:path>
              </a:pathLst>
            </a:custGeom>
            <a:solidFill>
              <a:srgbClr val="0A4C4C"/>
            </a:solidFill>
          </p:spPr>
        </p:sp>
        <p:sp>
          <p:nvSpPr>
            <p:cNvPr id="4" name="TextBox 4"/>
            <p:cNvSpPr txBox="1"/>
            <p:nvPr/>
          </p:nvSpPr>
          <p:spPr>
            <a:xfrm>
              <a:off x="0" y="-38100"/>
              <a:ext cx="3566765" cy="18208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6614228" flipH="1">
            <a:off x="4278075" y="1183473"/>
            <a:ext cx="1888611" cy="1864574"/>
          </a:xfrm>
          <a:custGeom>
            <a:avLst/>
            <a:gdLst/>
            <a:ahLst/>
            <a:cxnLst/>
            <a:rect l="l" t="t" r="r" b="b"/>
            <a:pathLst>
              <a:path w="1888611" h="1864574">
                <a:moveTo>
                  <a:pt x="1888611" y="0"/>
                </a:moveTo>
                <a:lnTo>
                  <a:pt x="0" y="0"/>
                </a:lnTo>
                <a:lnTo>
                  <a:pt x="0" y="1864574"/>
                </a:lnTo>
                <a:lnTo>
                  <a:pt x="1888611" y="1864574"/>
                </a:lnTo>
                <a:lnTo>
                  <a:pt x="1888611"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128588"/>
            <a:ext cx="18234675" cy="2012445"/>
            <a:chOff x="0" y="0"/>
            <a:chExt cx="4802548" cy="530027"/>
          </a:xfrm>
        </p:grpSpPr>
        <p:sp>
          <p:nvSpPr>
            <p:cNvPr id="7" name="Freeform 7"/>
            <p:cNvSpPr/>
            <p:nvPr/>
          </p:nvSpPr>
          <p:spPr>
            <a:xfrm>
              <a:off x="0" y="0"/>
              <a:ext cx="4802548" cy="530027"/>
            </a:xfrm>
            <a:custGeom>
              <a:avLst/>
              <a:gdLst/>
              <a:ahLst/>
              <a:cxnLst/>
              <a:rect l="l" t="t" r="r" b="b"/>
              <a:pathLst>
                <a:path w="4802548" h="530027">
                  <a:moveTo>
                    <a:pt x="203200" y="0"/>
                  </a:moveTo>
                  <a:lnTo>
                    <a:pt x="4802548" y="0"/>
                  </a:lnTo>
                  <a:lnTo>
                    <a:pt x="4599348" y="530027"/>
                  </a:lnTo>
                  <a:lnTo>
                    <a:pt x="0" y="530027"/>
                  </a:lnTo>
                  <a:lnTo>
                    <a:pt x="203200" y="0"/>
                  </a:lnTo>
                  <a:close/>
                </a:path>
              </a:pathLst>
            </a:custGeom>
            <a:solidFill>
              <a:srgbClr val="41B3AF"/>
            </a:solidFill>
          </p:spPr>
        </p:sp>
        <p:sp>
          <p:nvSpPr>
            <p:cNvPr id="8" name="TextBox 8"/>
            <p:cNvSpPr txBox="1"/>
            <p:nvPr/>
          </p:nvSpPr>
          <p:spPr>
            <a:xfrm>
              <a:off x="101600" y="-38100"/>
              <a:ext cx="4599348" cy="56812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96172" y="9604756"/>
            <a:ext cx="11255645" cy="682244"/>
            <a:chOff x="0" y="0"/>
            <a:chExt cx="2964450" cy="179686"/>
          </a:xfrm>
        </p:grpSpPr>
        <p:sp>
          <p:nvSpPr>
            <p:cNvPr id="10" name="Freeform 10"/>
            <p:cNvSpPr/>
            <p:nvPr/>
          </p:nvSpPr>
          <p:spPr>
            <a:xfrm>
              <a:off x="0" y="0"/>
              <a:ext cx="2964450" cy="179686"/>
            </a:xfrm>
            <a:custGeom>
              <a:avLst/>
              <a:gdLst/>
              <a:ahLst/>
              <a:cxnLst/>
              <a:rect l="l" t="t" r="r" b="b"/>
              <a:pathLst>
                <a:path w="2964450" h="179686">
                  <a:moveTo>
                    <a:pt x="203200" y="0"/>
                  </a:moveTo>
                  <a:lnTo>
                    <a:pt x="2964450" y="0"/>
                  </a:lnTo>
                  <a:lnTo>
                    <a:pt x="2761250" y="179686"/>
                  </a:lnTo>
                  <a:lnTo>
                    <a:pt x="0" y="179686"/>
                  </a:lnTo>
                  <a:lnTo>
                    <a:pt x="203200" y="0"/>
                  </a:lnTo>
                  <a:close/>
                </a:path>
              </a:pathLst>
            </a:custGeom>
            <a:solidFill>
              <a:srgbClr val="41B3AF"/>
            </a:solidFill>
          </p:spPr>
        </p:sp>
        <p:sp>
          <p:nvSpPr>
            <p:cNvPr id="11" name="TextBox 11"/>
            <p:cNvSpPr txBox="1"/>
            <p:nvPr/>
          </p:nvSpPr>
          <p:spPr>
            <a:xfrm>
              <a:off x="101600" y="-38100"/>
              <a:ext cx="276125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745441" y="-78662"/>
            <a:ext cx="13542559" cy="314384"/>
            <a:chOff x="0" y="0"/>
            <a:chExt cx="3566765" cy="82801"/>
          </a:xfrm>
        </p:grpSpPr>
        <p:sp>
          <p:nvSpPr>
            <p:cNvPr id="13" name="Freeform 13"/>
            <p:cNvSpPr/>
            <p:nvPr/>
          </p:nvSpPr>
          <p:spPr>
            <a:xfrm>
              <a:off x="0" y="0"/>
              <a:ext cx="3566764" cy="82801"/>
            </a:xfrm>
            <a:custGeom>
              <a:avLst/>
              <a:gdLst/>
              <a:ahLst/>
              <a:cxnLst/>
              <a:rect l="l" t="t" r="r" b="b"/>
              <a:pathLst>
                <a:path w="3566764" h="82801">
                  <a:moveTo>
                    <a:pt x="0" y="0"/>
                  </a:moveTo>
                  <a:lnTo>
                    <a:pt x="3566764" y="0"/>
                  </a:lnTo>
                  <a:lnTo>
                    <a:pt x="3566764" y="82801"/>
                  </a:lnTo>
                  <a:lnTo>
                    <a:pt x="0" y="82801"/>
                  </a:lnTo>
                  <a:close/>
                </a:path>
              </a:pathLst>
            </a:custGeom>
            <a:solidFill>
              <a:srgbClr val="0A4C4C"/>
            </a:solidFill>
          </p:spPr>
        </p:sp>
        <p:sp>
          <p:nvSpPr>
            <p:cNvPr id="14" name="TextBox 14"/>
            <p:cNvSpPr txBox="1"/>
            <p:nvPr/>
          </p:nvSpPr>
          <p:spPr>
            <a:xfrm>
              <a:off x="0" y="-38100"/>
              <a:ext cx="3566765" cy="12090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070318" y="-128588"/>
            <a:ext cx="2917270" cy="2812786"/>
            <a:chOff x="0" y="0"/>
            <a:chExt cx="633931" cy="611226"/>
          </a:xfrm>
        </p:grpSpPr>
        <p:sp>
          <p:nvSpPr>
            <p:cNvPr id="16" name="Freeform 16"/>
            <p:cNvSpPr/>
            <p:nvPr/>
          </p:nvSpPr>
          <p:spPr>
            <a:xfrm>
              <a:off x="0" y="0"/>
              <a:ext cx="633931" cy="611226"/>
            </a:xfrm>
            <a:custGeom>
              <a:avLst/>
              <a:gdLst/>
              <a:ahLst/>
              <a:cxnLst/>
              <a:rect l="l" t="t" r="r" b="b"/>
              <a:pathLst>
                <a:path w="633931" h="611226">
                  <a:moveTo>
                    <a:pt x="203200" y="0"/>
                  </a:moveTo>
                  <a:lnTo>
                    <a:pt x="633931" y="0"/>
                  </a:lnTo>
                  <a:lnTo>
                    <a:pt x="430731" y="611226"/>
                  </a:lnTo>
                  <a:lnTo>
                    <a:pt x="0" y="611226"/>
                  </a:lnTo>
                  <a:lnTo>
                    <a:pt x="203200" y="0"/>
                  </a:lnTo>
                  <a:close/>
                </a:path>
              </a:pathLst>
            </a:custGeom>
            <a:solidFill>
              <a:srgbClr val="158E8F"/>
            </a:solidFill>
          </p:spPr>
        </p:sp>
        <p:sp>
          <p:nvSpPr>
            <p:cNvPr id="17" name="TextBox 17"/>
            <p:cNvSpPr txBox="1"/>
            <p:nvPr/>
          </p:nvSpPr>
          <p:spPr>
            <a:xfrm>
              <a:off x="101600" y="-38100"/>
              <a:ext cx="430731" cy="6493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973670" y="9604756"/>
            <a:ext cx="1543050" cy="682244"/>
            <a:chOff x="0" y="0"/>
            <a:chExt cx="406400" cy="179686"/>
          </a:xfrm>
        </p:grpSpPr>
        <p:sp>
          <p:nvSpPr>
            <p:cNvPr id="19" name="Freeform 19"/>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0" name="TextBox 20"/>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39709" y="9604756"/>
            <a:ext cx="1543050" cy="682244"/>
            <a:chOff x="0" y="0"/>
            <a:chExt cx="406400" cy="179686"/>
          </a:xfrm>
        </p:grpSpPr>
        <p:sp>
          <p:nvSpPr>
            <p:cNvPr id="22" name="Freeform 22"/>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3" name="TextBox 23"/>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105748" y="9604756"/>
            <a:ext cx="1543050" cy="682244"/>
            <a:chOff x="0" y="0"/>
            <a:chExt cx="406400" cy="179686"/>
          </a:xfrm>
        </p:grpSpPr>
        <p:sp>
          <p:nvSpPr>
            <p:cNvPr id="25" name="Freeform 25"/>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0A4C4C"/>
            </a:solidFill>
          </p:spPr>
        </p:sp>
        <p:sp>
          <p:nvSpPr>
            <p:cNvPr id="26" name="TextBox 26"/>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0" y="9604756"/>
            <a:ext cx="498703" cy="682244"/>
            <a:chOff x="0" y="0"/>
            <a:chExt cx="406400" cy="555970"/>
          </a:xfrm>
        </p:grpSpPr>
        <p:sp>
          <p:nvSpPr>
            <p:cNvPr id="28" name="Freeform 28"/>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29" name="TextBox 29"/>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529997" y="9604756"/>
            <a:ext cx="498703" cy="682244"/>
            <a:chOff x="0" y="0"/>
            <a:chExt cx="406400" cy="555970"/>
          </a:xfrm>
        </p:grpSpPr>
        <p:sp>
          <p:nvSpPr>
            <p:cNvPr id="31" name="Freeform 31"/>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32" name="TextBox 32"/>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3344510" y="9258300"/>
            <a:ext cx="2326640" cy="1028700"/>
            <a:chOff x="0" y="0"/>
            <a:chExt cx="406400" cy="179686"/>
          </a:xfrm>
        </p:grpSpPr>
        <p:sp>
          <p:nvSpPr>
            <p:cNvPr id="34" name="Freeform 34"/>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158E8F"/>
            </a:solidFill>
          </p:spPr>
        </p:sp>
        <p:sp>
          <p:nvSpPr>
            <p:cNvPr id="35" name="TextBox 35"/>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6781735" y="-796920"/>
            <a:ext cx="1464533" cy="170418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7022668" y="-516562"/>
            <a:ext cx="982667" cy="1143467"/>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369904" y="626905"/>
            <a:ext cx="823662" cy="958443"/>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6505406" y="784580"/>
            <a:ext cx="552658" cy="643092"/>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505514" y="1275719"/>
            <a:ext cx="2674083" cy="3111660"/>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793523" y="1610857"/>
            <a:ext cx="2098064" cy="24413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38679" y="2012493"/>
            <a:ext cx="1407751" cy="1638110"/>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57" name="TextBox 57"/>
          <p:cNvSpPr txBox="1"/>
          <p:nvPr/>
        </p:nvSpPr>
        <p:spPr>
          <a:xfrm>
            <a:off x="1617994" y="3743357"/>
            <a:ext cx="8841480" cy="4318394"/>
          </a:xfrm>
          <a:prstGeom prst="rect">
            <a:avLst/>
          </a:prstGeom>
        </p:spPr>
        <p:txBody>
          <a:bodyPr lIns="0" tIns="0" rIns="0" bIns="0" rtlCol="0" anchor="t">
            <a:spAutoFit/>
          </a:bodyPr>
          <a:lstStyle/>
          <a:p>
            <a:pPr marL="665070" lvl="1" indent="-332535" algn="l">
              <a:lnSpc>
                <a:spcPts val="4343"/>
              </a:lnSpc>
              <a:buFont typeface="Arial"/>
              <a:buChar char="•"/>
            </a:pPr>
            <a:r>
              <a:rPr lang="en-US" sz="3080">
                <a:solidFill>
                  <a:srgbClr val="000000"/>
                </a:solidFill>
                <a:latin typeface="Proxima Nova"/>
                <a:ea typeface="Proxima Nova"/>
                <a:cs typeface="Proxima Nova"/>
                <a:sym typeface="Proxima Nova"/>
              </a:rPr>
              <a:t>Fraud transactions are significantly lower in number</a:t>
            </a:r>
          </a:p>
          <a:p>
            <a:pPr marL="665070" lvl="1" indent="-332535" algn="l">
              <a:lnSpc>
                <a:spcPts val="4343"/>
              </a:lnSpc>
              <a:buFont typeface="Arial"/>
              <a:buChar char="•"/>
            </a:pPr>
            <a:r>
              <a:rPr lang="en-US" sz="3080">
                <a:solidFill>
                  <a:srgbClr val="000000"/>
                </a:solidFill>
                <a:latin typeface="Proxima Nova"/>
                <a:ea typeface="Proxima Nova"/>
                <a:cs typeface="Proxima Nova"/>
                <a:sym typeface="Proxima Nova"/>
              </a:rPr>
              <a:t>High-value transactions have higher fraud probability</a:t>
            </a:r>
          </a:p>
          <a:p>
            <a:pPr marL="665070" lvl="1" indent="-332535" algn="l">
              <a:lnSpc>
                <a:spcPts val="4343"/>
              </a:lnSpc>
              <a:buFont typeface="Arial"/>
              <a:buChar char="•"/>
            </a:pPr>
            <a:r>
              <a:rPr lang="en-US" sz="3080">
                <a:solidFill>
                  <a:srgbClr val="000000"/>
                </a:solidFill>
                <a:latin typeface="Proxima Nova"/>
                <a:ea typeface="Proxima Nova"/>
                <a:cs typeface="Proxima Nova"/>
                <a:sym typeface="Proxima Nova"/>
              </a:rPr>
              <a:t>Certain time periods show increased fraud activity</a:t>
            </a:r>
          </a:p>
          <a:p>
            <a:pPr marL="665070" lvl="1" indent="-332535" algn="l">
              <a:lnSpc>
                <a:spcPts val="4343"/>
              </a:lnSpc>
              <a:buFont typeface="Arial"/>
              <a:buChar char="•"/>
            </a:pPr>
            <a:r>
              <a:rPr lang="en-US" sz="3080">
                <a:solidFill>
                  <a:srgbClr val="000000"/>
                </a:solidFill>
                <a:latin typeface="Proxima Nova"/>
                <a:ea typeface="Proxima Nova"/>
                <a:cs typeface="Proxima Nova"/>
                <a:sym typeface="Proxima Nova"/>
              </a:rPr>
              <a:t>Imbalanced dataset requires careful analysis</a:t>
            </a:r>
          </a:p>
          <a:p>
            <a:pPr algn="l">
              <a:lnSpc>
                <a:spcPts val="4343"/>
              </a:lnSpc>
            </a:pPr>
            <a:endParaRPr lang="en-US" sz="3080">
              <a:solidFill>
                <a:srgbClr val="000000"/>
              </a:solidFill>
              <a:latin typeface="Proxima Nova"/>
              <a:ea typeface="Proxima Nova"/>
              <a:cs typeface="Proxima Nova"/>
              <a:sym typeface="Proxima Nova"/>
            </a:endParaRPr>
          </a:p>
        </p:txBody>
      </p:sp>
      <p:sp>
        <p:nvSpPr>
          <p:cNvPr id="58" name="TextBox 58"/>
          <p:cNvSpPr txBox="1"/>
          <p:nvPr/>
        </p:nvSpPr>
        <p:spPr>
          <a:xfrm>
            <a:off x="6101285" y="689290"/>
            <a:ext cx="7744770" cy="602456"/>
          </a:xfrm>
          <a:prstGeom prst="rect">
            <a:avLst/>
          </a:prstGeom>
        </p:spPr>
        <p:txBody>
          <a:bodyPr lIns="0" tIns="0" rIns="0" bIns="0" rtlCol="0" anchor="t">
            <a:spAutoFit/>
          </a:bodyPr>
          <a:lstStyle/>
          <a:p>
            <a:pPr algn="ctr">
              <a:lnSpc>
                <a:spcPts val="4644"/>
              </a:lnSpc>
            </a:pPr>
            <a:r>
              <a:rPr lang="en-US" sz="4261" b="1">
                <a:solidFill>
                  <a:srgbClr val="FFFFFF"/>
                </a:solidFill>
                <a:latin typeface="Tomorrow Bold"/>
                <a:ea typeface="Tomorrow Bold"/>
                <a:cs typeface="Tomorrow Bold"/>
                <a:sym typeface="Tomorrow Bold"/>
              </a:rPr>
              <a:t>Key Insights</a:t>
            </a:r>
          </a:p>
        </p:txBody>
      </p:sp>
      <p:sp>
        <p:nvSpPr>
          <p:cNvPr id="59" name="Freeform 59"/>
          <p:cNvSpPr/>
          <p:nvPr/>
        </p:nvSpPr>
        <p:spPr>
          <a:xfrm>
            <a:off x="11062478" y="2715956"/>
            <a:ext cx="6076201" cy="6426752"/>
          </a:xfrm>
          <a:custGeom>
            <a:avLst/>
            <a:gdLst/>
            <a:ahLst/>
            <a:cxnLst/>
            <a:rect l="l" t="t" r="r" b="b"/>
            <a:pathLst>
              <a:path w="6076201" h="6426752">
                <a:moveTo>
                  <a:pt x="0" y="0"/>
                </a:moveTo>
                <a:lnTo>
                  <a:pt x="6076201" y="0"/>
                </a:lnTo>
                <a:lnTo>
                  <a:pt x="6076201" y="6426751"/>
                </a:lnTo>
                <a:lnTo>
                  <a:pt x="0" y="6426751"/>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45441" y="1707214"/>
            <a:ext cx="13542559" cy="546693"/>
            <a:chOff x="0" y="0"/>
            <a:chExt cx="3566765" cy="143985"/>
          </a:xfrm>
        </p:grpSpPr>
        <p:sp>
          <p:nvSpPr>
            <p:cNvPr id="3" name="Freeform 3"/>
            <p:cNvSpPr/>
            <p:nvPr/>
          </p:nvSpPr>
          <p:spPr>
            <a:xfrm>
              <a:off x="0" y="0"/>
              <a:ext cx="3566764" cy="143985"/>
            </a:xfrm>
            <a:custGeom>
              <a:avLst/>
              <a:gdLst/>
              <a:ahLst/>
              <a:cxnLst/>
              <a:rect l="l" t="t" r="r" b="b"/>
              <a:pathLst>
                <a:path w="3566764" h="143985">
                  <a:moveTo>
                    <a:pt x="0" y="0"/>
                  </a:moveTo>
                  <a:lnTo>
                    <a:pt x="3566764" y="0"/>
                  </a:lnTo>
                  <a:lnTo>
                    <a:pt x="3566764" y="143985"/>
                  </a:lnTo>
                  <a:lnTo>
                    <a:pt x="0" y="143985"/>
                  </a:lnTo>
                  <a:close/>
                </a:path>
              </a:pathLst>
            </a:custGeom>
            <a:solidFill>
              <a:srgbClr val="0A4C4C"/>
            </a:solidFill>
          </p:spPr>
        </p:sp>
        <p:sp>
          <p:nvSpPr>
            <p:cNvPr id="4" name="TextBox 4"/>
            <p:cNvSpPr txBox="1"/>
            <p:nvPr/>
          </p:nvSpPr>
          <p:spPr>
            <a:xfrm>
              <a:off x="0" y="-38100"/>
              <a:ext cx="3566765" cy="182085"/>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6614228" flipH="1">
            <a:off x="4278075" y="1183473"/>
            <a:ext cx="1888611" cy="1864574"/>
          </a:xfrm>
          <a:custGeom>
            <a:avLst/>
            <a:gdLst/>
            <a:ahLst/>
            <a:cxnLst/>
            <a:rect l="l" t="t" r="r" b="b"/>
            <a:pathLst>
              <a:path w="1888611" h="1864574">
                <a:moveTo>
                  <a:pt x="1888611" y="0"/>
                </a:moveTo>
                <a:lnTo>
                  <a:pt x="0" y="0"/>
                </a:lnTo>
                <a:lnTo>
                  <a:pt x="0" y="1864574"/>
                </a:lnTo>
                <a:lnTo>
                  <a:pt x="1888611" y="1864574"/>
                </a:lnTo>
                <a:lnTo>
                  <a:pt x="1888611"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028700" y="-128588"/>
            <a:ext cx="18234675" cy="2012445"/>
            <a:chOff x="0" y="0"/>
            <a:chExt cx="4802548" cy="530027"/>
          </a:xfrm>
        </p:grpSpPr>
        <p:sp>
          <p:nvSpPr>
            <p:cNvPr id="7" name="Freeform 7"/>
            <p:cNvSpPr/>
            <p:nvPr/>
          </p:nvSpPr>
          <p:spPr>
            <a:xfrm>
              <a:off x="0" y="0"/>
              <a:ext cx="4802548" cy="530027"/>
            </a:xfrm>
            <a:custGeom>
              <a:avLst/>
              <a:gdLst/>
              <a:ahLst/>
              <a:cxnLst/>
              <a:rect l="l" t="t" r="r" b="b"/>
              <a:pathLst>
                <a:path w="4802548" h="530027">
                  <a:moveTo>
                    <a:pt x="203200" y="0"/>
                  </a:moveTo>
                  <a:lnTo>
                    <a:pt x="4802548" y="0"/>
                  </a:lnTo>
                  <a:lnTo>
                    <a:pt x="4599348" y="530027"/>
                  </a:lnTo>
                  <a:lnTo>
                    <a:pt x="0" y="530027"/>
                  </a:lnTo>
                  <a:lnTo>
                    <a:pt x="203200" y="0"/>
                  </a:lnTo>
                  <a:close/>
                </a:path>
              </a:pathLst>
            </a:custGeom>
            <a:solidFill>
              <a:srgbClr val="41B3AF"/>
            </a:solidFill>
          </p:spPr>
        </p:sp>
        <p:sp>
          <p:nvSpPr>
            <p:cNvPr id="8" name="TextBox 8"/>
            <p:cNvSpPr txBox="1"/>
            <p:nvPr/>
          </p:nvSpPr>
          <p:spPr>
            <a:xfrm>
              <a:off x="101600" y="-38100"/>
              <a:ext cx="4599348" cy="568127"/>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796172" y="9604756"/>
            <a:ext cx="11255645" cy="682244"/>
            <a:chOff x="0" y="0"/>
            <a:chExt cx="2964450" cy="179686"/>
          </a:xfrm>
        </p:grpSpPr>
        <p:sp>
          <p:nvSpPr>
            <p:cNvPr id="10" name="Freeform 10"/>
            <p:cNvSpPr/>
            <p:nvPr/>
          </p:nvSpPr>
          <p:spPr>
            <a:xfrm>
              <a:off x="0" y="0"/>
              <a:ext cx="2964450" cy="179686"/>
            </a:xfrm>
            <a:custGeom>
              <a:avLst/>
              <a:gdLst/>
              <a:ahLst/>
              <a:cxnLst/>
              <a:rect l="l" t="t" r="r" b="b"/>
              <a:pathLst>
                <a:path w="2964450" h="179686">
                  <a:moveTo>
                    <a:pt x="203200" y="0"/>
                  </a:moveTo>
                  <a:lnTo>
                    <a:pt x="2964450" y="0"/>
                  </a:lnTo>
                  <a:lnTo>
                    <a:pt x="2761250" y="179686"/>
                  </a:lnTo>
                  <a:lnTo>
                    <a:pt x="0" y="179686"/>
                  </a:lnTo>
                  <a:lnTo>
                    <a:pt x="203200" y="0"/>
                  </a:lnTo>
                  <a:close/>
                </a:path>
              </a:pathLst>
            </a:custGeom>
            <a:solidFill>
              <a:srgbClr val="41B3AF"/>
            </a:solidFill>
          </p:spPr>
        </p:sp>
        <p:sp>
          <p:nvSpPr>
            <p:cNvPr id="11" name="TextBox 11"/>
            <p:cNvSpPr txBox="1"/>
            <p:nvPr/>
          </p:nvSpPr>
          <p:spPr>
            <a:xfrm>
              <a:off x="101600" y="-38100"/>
              <a:ext cx="276125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745441" y="-78662"/>
            <a:ext cx="13542559" cy="314384"/>
            <a:chOff x="0" y="0"/>
            <a:chExt cx="3566765" cy="82801"/>
          </a:xfrm>
        </p:grpSpPr>
        <p:sp>
          <p:nvSpPr>
            <p:cNvPr id="13" name="Freeform 13"/>
            <p:cNvSpPr/>
            <p:nvPr/>
          </p:nvSpPr>
          <p:spPr>
            <a:xfrm>
              <a:off x="0" y="0"/>
              <a:ext cx="3566764" cy="82801"/>
            </a:xfrm>
            <a:custGeom>
              <a:avLst/>
              <a:gdLst/>
              <a:ahLst/>
              <a:cxnLst/>
              <a:rect l="l" t="t" r="r" b="b"/>
              <a:pathLst>
                <a:path w="3566764" h="82801">
                  <a:moveTo>
                    <a:pt x="0" y="0"/>
                  </a:moveTo>
                  <a:lnTo>
                    <a:pt x="3566764" y="0"/>
                  </a:lnTo>
                  <a:lnTo>
                    <a:pt x="3566764" y="82801"/>
                  </a:lnTo>
                  <a:lnTo>
                    <a:pt x="0" y="82801"/>
                  </a:lnTo>
                  <a:close/>
                </a:path>
              </a:pathLst>
            </a:custGeom>
            <a:solidFill>
              <a:srgbClr val="0A4C4C"/>
            </a:solidFill>
          </p:spPr>
        </p:sp>
        <p:sp>
          <p:nvSpPr>
            <p:cNvPr id="14" name="TextBox 14"/>
            <p:cNvSpPr txBox="1"/>
            <p:nvPr/>
          </p:nvSpPr>
          <p:spPr>
            <a:xfrm>
              <a:off x="0" y="-38100"/>
              <a:ext cx="3566765" cy="12090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2070318" y="-128588"/>
            <a:ext cx="2917270" cy="2812786"/>
            <a:chOff x="0" y="0"/>
            <a:chExt cx="633931" cy="611226"/>
          </a:xfrm>
        </p:grpSpPr>
        <p:sp>
          <p:nvSpPr>
            <p:cNvPr id="16" name="Freeform 16"/>
            <p:cNvSpPr/>
            <p:nvPr/>
          </p:nvSpPr>
          <p:spPr>
            <a:xfrm>
              <a:off x="0" y="0"/>
              <a:ext cx="633931" cy="611226"/>
            </a:xfrm>
            <a:custGeom>
              <a:avLst/>
              <a:gdLst/>
              <a:ahLst/>
              <a:cxnLst/>
              <a:rect l="l" t="t" r="r" b="b"/>
              <a:pathLst>
                <a:path w="633931" h="611226">
                  <a:moveTo>
                    <a:pt x="203200" y="0"/>
                  </a:moveTo>
                  <a:lnTo>
                    <a:pt x="633931" y="0"/>
                  </a:lnTo>
                  <a:lnTo>
                    <a:pt x="430731" y="611226"/>
                  </a:lnTo>
                  <a:lnTo>
                    <a:pt x="0" y="611226"/>
                  </a:lnTo>
                  <a:lnTo>
                    <a:pt x="203200" y="0"/>
                  </a:lnTo>
                  <a:close/>
                </a:path>
              </a:pathLst>
            </a:custGeom>
            <a:solidFill>
              <a:srgbClr val="158E8F"/>
            </a:solidFill>
          </p:spPr>
        </p:sp>
        <p:sp>
          <p:nvSpPr>
            <p:cNvPr id="17" name="TextBox 17"/>
            <p:cNvSpPr txBox="1"/>
            <p:nvPr/>
          </p:nvSpPr>
          <p:spPr>
            <a:xfrm>
              <a:off x="101600" y="-38100"/>
              <a:ext cx="430731" cy="649326"/>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9973670" y="9604756"/>
            <a:ext cx="1543050" cy="682244"/>
            <a:chOff x="0" y="0"/>
            <a:chExt cx="406400" cy="179686"/>
          </a:xfrm>
        </p:grpSpPr>
        <p:sp>
          <p:nvSpPr>
            <p:cNvPr id="19" name="Freeform 19"/>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0" name="TextBox 20"/>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1039709" y="9604756"/>
            <a:ext cx="1543050" cy="682244"/>
            <a:chOff x="0" y="0"/>
            <a:chExt cx="406400" cy="179686"/>
          </a:xfrm>
        </p:grpSpPr>
        <p:sp>
          <p:nvSpPr>
            <p:cNvPr id="22" name="Freeform 22"/>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41B3AF"/>
            </a:solidFill>
          </p:spPr>
        </p:sp>
        <p:sp>
          <p:nvSpPr>
            <p:cNvPr id="23" name="TextBox 23"/>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105748" y="9604756"/>
            <a:ext cx="1543050" cy="682244"/>
            <a:chOff x="0" y="0"/>
            <a:chExt cx="406400" cy="179686"/>
          </a:xfrm>
        </p:grpSpPr>
        <p:sp>
          <p:nvSpPr>
            <p:cNvPr id="25" name="Freeform 25"/>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0A4C4C"/>
            </a:solidFill>
          </p:spPr>
        </p:sp>
        <p:sp>
          <p:nvSpPr>
            <p:cNvPr id="26" name="TextBox 26"/>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0" y="9604756"/>
            <a:ext cx="498703" cy="682244"/>
            <a:chOff x="0" y="0"/>
            <a:chExt cx="406400" cy="555970"/>
          </a:xfrm>
        </p:grpSpPr>
        <p:sp>
          <p:nvSpPr>
            <p:cNvPr id="28" name="Freeform 28"/>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29" name="TextBox 29"/>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529997" y="9604756"/>
            <a:ext cx="498703" cy="682244"/>
            <a:chOff x="0" y="0"/>
            <a:chExt cx="406400" cy="555970"/>
          </a:xfrm>
        </p:grpSpPr>
        <p:sp>
          <p:nvSpPr>
            <p:cNvPr id="31" name="Freeform 31"/>
            <p:cNvSpPr/>
            <p:nvPr/>
          </p:nvSpPr>
          <p:spPr>
            <a:xfrm>
              <a:off x="0" y="0"/>
              <a:ext cx="406400" cy="555970"/>
            </a:xfrm>
            <a:custGeom>
              <a:avLst/>
              <a:gdLst/>
              <a:ahLst/>
              <a:cxnLst/>
              <a:rect l="l" t="t" r="r" b="b"/>
              <a:pathLst>
                <a:path w="406400" h="555970">
                  <a:moveTo>
                    <a:pt x="203200" y="0"/>
                  </a:moveTo>
                  <a:lnTo>
                    <a:pt x="406400" y="0"/>
                  </a:lnTo>
                  <a:lnTo>
                    <a:pt x="203200" y="555970"/>
                  </a:lnTo>
                  <a:lnTo>
                    <a:pt x="0" y="555970"/>
                  </a:lnTo>
                  <a:lnTo>
                    <a:pt x="203200" y="0"/>
                  </a:lnTo>
                  <a:close/>
                </a:path>
              </a:pathLst>
            </a:custGeom>
            <a:solidFill>
              <a:srgbClr val="0A4C4C"/>
            </a:solidFill>
          </p:spPr>
        </p:sp>
        <p:sp>
          <p:nvSpPr>
            <p:cNvPr id="32" name="TextBox 32"/>
            <p:cNvSpPr txBox="1"/>
            <p:nvPr/>
          </p:nvSpPr>
          <p:spPr>
            <a:xfrm>
              <a:off x="101600" y="-38100"/>
              <a:ext cx="203200" cy="594070"/>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3344510" y="9258300"/>
            <a:ext cx="2326640" cy="1028700"/>
            <a:chOff x="0" y="0"/>
            <a:chExt cx="406400" cy="179686"/>
          </a:xfrm>
        </p:grpSpPr>
        <p:sp>
          <p:nvSpPr>
            <p:cNvPr id="34" name="Freeform 34"/>
            <p:cNvSpPr/>
            <p:nvPr/>
          </p:nvSpPr>
          <p:spPr>
            <a:xfrm>
              <a:off x="0" y="0"/>
              <a:ext cx="406400" cy="179686"/>
            </a:xfrm>
            <a:custGeom>
              <a:avLst/>
              <a:gdLst/>
              <a:ahLst/>
              <a:cxnLst/>
              <a:rect l="l" t="t" r="r" b="b"/>
              <a:pathLst>
                <a:path w="406400" h="179686">
                  <a:moveTo>
                    <a:pt x="203200" y="0"/>
                  </a:moveTo>
                  <a:lnTo>
                    <a:pt x="406400" y="0"/>
                  </a:lnTo>
                  <a:lnTo>
                    <a:pt x="203200" y="179686"/>
                  </a:lnTo>
                  <a:lnTo>
                    <a:pt x="0" y="179686"/>
                  </a:lnTo>
                  <a:lnTo>
                    <a:pt x="203200" y="0"/>
                  </a:lnTo>
                  <a:close/>
                </a:path>
              </a:pathLst>
            </a:custGeom>
            <a:solidFill>
              <a:srgbClr val="158E8F"/>
            </a:solidFill>
          </p:spPr>
        </p:sp>
        <p:sp>
          <p:nvSpPr>
            <p:cNvPr id="35" name="TextBox 35"/>
            <p:cNvSpPr txBox="1"/>
            <p:nvPr/>
          </p:nvSpPr>
          <p:spPr>
            <a:xfrm>
              <a:off x="101600" y="-38100"/>
              <a:ext cx="203200" cy="217786"/>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6781735" y="-796920"/>
            <a:ext cx="1464533" cy="170418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7022668" y="-516562"/>
            <a:ext cx="982667" cy="1143467"/>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6369904" y="626905"/>
            <a:ext cx="823662" cy="958443"/>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6505406" y="784580"/>
            <a:ext cx="552658" cy="643092"/>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505514" y="1275719"/>
            <a:ext cx="2674083" cy="3111660"/>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6793523" y="1610857"/>
            <a:ext cx="2098064" cy="2441383"/>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7138679" y="2012493"/>
            <a:ext cx="1407751" cy="1638110"/>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57" name="TextBox 57"/>
          <p:cNvSpPr txBox="1"/>
          <p:nvPr/>
        </p:nvSpPr>
        <p:spPr>
          <a:xfrm>
            <a:off x="1466483" y="3238532"/>
            <a:ext cx="9573226" cy="5854586"/>
          </a:xfrm>
          <a:prstGeom prst="rect">
            <a:avLst/>
          </a:prstGeom>
        </p:spPr>
        <p:txBody>
          <a:bodyPr lIns="0" tIns="0" rIns="0" bIns="0" rtlCol="0" anchor="t">
            <a:spAutoFit/>
          </a:bodyPr>
          <a:lstStyle/>
          <a:p>
            <a:pPr algn="l">
              <a:lnSpc>
                <a:spcPts val="4202"/>
              </a:lnSpc>
            </a:pPr>
            <a:r>
              <a:rPr lang="en-US" sz="2980" b="1">
                <a:solidFill>
                  <a:srgbClr val="000000"/>
                </a:solidFill>
                <a:latin typeface="Proxima Nova Bold"/>
                <a:ea typeface="Proxima Nova Bold"/>
                <a:cs typeface="Proxima Nova Bold"/>
                <a:sym typeface="Proxima Nova Bold"/>
              </a:rPr>
              <a:t>Conclusion:</a:t>
            </a:r>
          </a:p>
          <a:p>
            <a:pPr marL="643480" lvl="1" indent="-321740" algn="l">
              <a:lnSpc>
                <a:spcPts val="4202"/>
              </a:lnSpc>
              <a:buFont typeface="Arial"/>
              <a:buChar char="•"/>
            </a:pPr>
            <a:r>
              <a:rPr lang="en-US" sz="2980">
                <a:solidFill>
                  <a:srgbClr val="000000"/>
                </a:solidFill>
                <a:latin typeface="Proxima Nova"/>
                <a:ea typeface="Proxima Nova"/>
                <a:cs typeface="Proxima Nova"/>
                <a:sym typeface="Proxima Nova"/>
              </a:rPr>
              <a:t>Data analysis helps in identifying fraud patterns</a:t>
            </a:r>
          </a:p>
          <a:p>
            <a:pPr marL="643480" lvl="1" indent="-321740" algn="l">
              <a:lnSpc>
                <a:spcPts val="4202"/>
              </a:lnSpc>
              <a:buFont typeface="Arial"/>
              <a:buChar char="•"/>
            </a:pPr>
            <a:r>
              <a:rPr lang="en-US" sz="2980">
                <a:solidFill>
                  <a:srgbClr val="000000"/>
                </a:solidFill>
                <a:latin typeface="Proxima Nova"/>
                <a:ea typeface="Proxima Nova"/>
                <a:cs typeface="Proxima Nova"/>
                <a:sym typeface="Proxima Nova"/>
              </a:rPr>
              <a:t>KPIs provide measurable indicators for fraud detection</a:t>
            </a:r>
          </a:p>
          <a:p>
            <a:pPr marL="643480" lvl="1" indent="-321740" algn="l">
              <a:lnSpc>
                <a:spcPts val="4202"/>
              </a:lnSpc>
              <a:buFont typeface="Arial"/>
              <a:buChar char="•"/>
            </a:pPr>
            <a:r>
              <a:rPr lang="en-US" sz="2980">
                <a:solidFill>
                  <a:srgbClr val="000000"/>
                </a:solidFill>
                <a:latin typeface="Proxima Nova"/>
                <a:ea typeface="Proxima Nova"/>
                <a:cs typeface="Proxima Nova"/>
                <a:sym typeface="Proxima Nova"/>
              </a:rPr>
              <a:t>Visualization improves understanding of trends</a:t>
            </a:r>
          </a:p>
          <a:p>
            <a:pPr algn="l">
              <a:lnSpc>
                <a:spcPts val="4202"/>
              </a:lnSpc>
            </a:pPr>
            <a:endParaRPr lang="en-US" sz="2980">
              <a:solidFill>
                <a:srgbClr val="000000"/>
              </a:solidFill>
              <a:latin typeface="Proxima Nova"/>
              <a:ea typeface="Proxima Nova"/>
              <a:cs typeface="Proxima Nova"/>
              <a:sym typeface="Proxima Nova"/>
            </a:endParaRPr>
          </a:p>
          <a:p>
            <a:pPr algn="l">
              <a:lnSpc>
                <a:spcPts val="4202"/>
              </a:lnSpc>
            </a:pPr>
            <a:r>
              <a:rPr lang="en-US" sz="2980" b="1">
                <a:solidFill>
                  <a:srgbClr val="000000"/>
                </a:solidFill>
                <a:latin typeface="Proxima Nova Bold"/>
                <a:ea typeface="Proxima Nova Bold"/>
                <a:cs typeface="Proxima Nova Bold"/>
                <a:sym typeface="Proxima Nova Bold"/>
              </a:rPr>
              <a:t>Future Scope:</a:t>
            </a:r>
          </a:p>
          <a:p>
            <a:pPr marL="643480" lvl="1" indent="-321740" algn="l">
              <a:lnSpc>
                <a:spcPts val="4202"/>
              </a:lnSpc>
              <a:buFont typeface="Arial"/>
              <a:buChar char="•"/>
            </a:pPr>
            <a:r>
              <a:rPr lang="en-US" sz="2980">
                <a:solidFill>
                  <a:srgbClr val="000000"/>
                </a:solidFill>
                <a:latin typeface="Proxima Nova"/>
                <a:ea typeface="Proxima Nova"/>
                <a:cs typeface="Proxima Nova"/>
                <a:sym typeface="Proxima Nova"/>
              </a:rPr>
              <a:t>Implement Machine Learning models</a:t>
            </a:r>
          </a:p>
          <a:p>
            <a:pPr marL="643480" lvl="1" indent="-321740" algn="l">
              <a:lnSpc>
                <a:spcPts val="4202"/>
              </a:lnSpc>
              <a:buFont typeface="Arial"/>
              <a:buChar char="•"/>
            </a:pPr>
            <a:r>
              <a:rPr lang="en-US" sz="2980">
                <a:solidFill>
                  <a:srgbClr val="000000"/>
                </a:solidFill>
                <a:latin typeface="Proxima Nova"/>
                <a:ea typeface="Proxima Nova"/>
                <a:cs typeface="Proxima Nova"/>
                <a:sym typeface="Proxima Nova"/>
              </a:rPr>
              <a:t>Real-time fraud detection system</a:t>
            </a:r>
          </a:p>
          <a:p>
            <a:pPr marL="643480" lvl="1" indent="-321740" algn="l">
              <a:lnSpc>
                <a:spcPts val="4202"/>
              </a:lnSpc>
              <a:buFont typeface="Arial"/>
              <a:buChar char="•"/>
            </a:pPr>
            <a:r>
              <a:rPr lang="en-US" sz="2980">
                <a:solidFill>
                  <a:srgbClr val="000000"/>
                </a:solidFill>
                <a:latin typeface="Proxima Nova"/>
                <a:ea typeface="Proxima Nova"/>
                <a:cs typeface="Proxima Nova"/>
                <a:sym typeface="Proxima Nova"/>
              </a:rPr>
              <a:t>Improve accuracy using advanced algorithms</a:t>
            </a:r>
          </a:p>
          <a:p>
            <a:pPr algn="l">
              <a:lnSpc>
                <a:spcPts val="4202"/>
              </a:lnSpc>
            </a:pPr>
            <a:endParaRPr lang="en-US" sz="2980">
              <a:solidFill>
                <a:srgbClr val="000000"/>
              </a:solidFill>
              <a:latin typeface="Proxima Nova"/>
              <a:ea typeface="Proxima Nova"/>
              <a:cs typeface="Proxima Nova"/>
              <a:sym typeface="Proxima Nova"/>
            </a:endParaRPr>
          </a:p>
        </p:txBody>
      </p:sp>
      <p:sp>
        <p:nvSpPr>
          <p:cNvPr id="58" name="TextBox 58"/>
          <p:cNvSpPr txBox="1"/>
          <p:nvPr/>
        </p:nvSpPr>
        <p:spPr>
          <a:xfrm>
            <a:off x="6101285" y="689290"/>
            <a:ext cx="7744770" cy="602456"/>
          </a:xfrm>
          <a:prstGeom prst="rect">
            <a:avLst/>
          </a:prstGeom>
        </p:spPr>
        <p:txBody>
          <a:bodyPr lIns="0" tIns="0" rIns="0" bIns="0" rtlCol="0" anchor="t">
            <a:spAutoFit/>
          </a:bodyPr>
          <a:lstStyle/>
          <a:p>
            <a:pPr algn="ctr">
              <a:lnSpc>
                <a:spcPts val="4644"/>
              </a:lnSpc>
            </a:pPr>
            <a:r>
              <a:rPr lang="en-US" sz="4261" b="1">
                <a:solidFill>
                  <a:srgbClr val="FFFFFF"/>
                </a:solidFill>
                <a:latin typeface="Tomorrow Bold"/>
                <a:ea typeface="Tomorrow Bold"/>
                <a:cs typeface="Tomorrow Bold"/>
                <a:sym typeface="Tomorrow Bold"/>
              </a:rPr>
              <a:t>Conclusion &amp; Future Scope</a:t>
            </a:r>
          </a:p>
        </p:txBody>
      </p:sp>
      <p:sp>
        <p:nvSpPr>
          <p:cNvPr id="59" name="Freeform 59"/>
          <p:cNvSpPr/>
          <p:nvPr/>
        </p:nvSpPr>
        <p:spPr>
          <a:xfrm flipH="1">
            <a:off x="11650023" y="4080815"/>
            <a:ext cx="5143500" cy="4114800"/>
          </a:xfrm>
          <a:custGeom>
            <a:avLst/>
            <a:gdLst/>
            <a:ahLst/>
            <a:cxnLst/>
            <a:rect l="l" t="t" r="r" b="b"/>
            <a:pathLst>
              <a:path w="5143500" h="4114800">
                <a:moveTo>
                  <a:pt x="5143500" y="0"/>
                </a:moveTo>
                <a:lnTo>
                  <a:pt x="0" y="0"/>
                </a:lnTo>
                <a:lnTo>
                  <a:pt x="0" y="4114800"/>
                </a:lnTo>
                <a:lnTo>
                  <a:pt x="5143500" y="4114800"/>
                </a:lnTo>
                <a:lnTo>
                  <a:pt x="5143500" y="0"/>
                </a:lnTo>
                <a:close/>
              </a:path>
            </a:pathLst>
          </a:custGeom>
          <a:blipFill>
            <a:blip>
              <a:extLst>
                <a:ext uri="{96DAC541-7B7A-43D3-8B79-37D633B846F1}">
                  <asvg:svgBlip xmlns:asvg="http://schemas.microsoft.com/office/drawing/2016/SVG/main" r:embed="rId3"/>
                </a:ext>
              </a:extLst>
            </a:blip>
            <a:stretch>
              <a:fillRect/>
            </a:stretch>
          </a:blipFill>
        </p:spPr>
      </p:sp>
      <p:sp>
        <p:nvSpPr>
          <p:cNvPr id="60" name="Freeform 60"/>
          <p:cNvSpPr/>
          <p:nvPr/>
        </p:nvSpPr>
        <p:spPr>
          <a:xfrm>
            <a:off x="11039709" y="4038620"/>
            <a:ext cx="3185151" cy="3434967"/>
          </a:xfrm>
          <a:custGeom>
            <a:avLst/>
            <a:gdLst/>
            <a:ahLst/>
            <a:cxnLst/>
            <a:rect l="l" t="t" r="r" b="b"/>
            <a:pathLst>
              <a:path w="3185151" h="3434967">
                <a:moveTo>
                  <a:pt x="0" y="0"/>
                </a:moveTo>
                <a:lnTo>
                  <a:pt x="3185151" y="0"/>
                </a:lnTo>
                <a:lnTo>
                  <a:pt x="3185151" y="3434967"/>
                </a:lnTo>
                <a:lnTo>
                  <a:pt x="0" y="3434967"/>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326" t="-99109" r="-29858"/>
            </a:stretch>
          </a:blipFill>
        </p:spPr>
      </p:sp>
      <p:sp>
        <p:nvSpPr>
          <p:cNvPr id="3" name="Freeform 3"/>
          <p:cNvSpPr/>
          <p:nvPr/>
        </p:nvSpPr>
        <p:spPr>
          <a:xfrm rot="6614228" flipH="1">
            <a:off x="1963197" y="3834873"/>
            <a:ext cx="1000490" cy="987756"/>
          </a:xfrm>
          <a:custGeom>
            <a:avLst/>
            <a:gdLst/>
            <a:ahLst/>
            <a:cxnLst/>
            <a:rect l="l" t="t" r="r" b="b"/>
            <a:pathLst>
              <a:path w="1000490" h="987756">
                <a:moveTo>
                  <a:pt x="1000490" y="0"/>
                </a:moveTo>
                <a:lnTo>
                  <a:pt x="0" y="0"/>
                </a:lnTo>
                <a:lnTo>
                  <a:pt x="0" y="987757"/>
                </a:lnTo>
                <a:lnTo>
                  <a:pt x="1000490" y="987757"/>
                </a:lnTo>
                <a:lnTo>
                  <a:pt x="100049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6735694" y="7481921"/>
            <a:ext cx="1861414" cy="2166009"/>
            <a:chOff x="0" y="0"/>
            <a:chExt cx="698500" cy="812800"/>
          </a:xfrm>
        </p:grpSpPr>
        <p:sp>
          <p:nvSpPr>
            <p:cNvPr id="5" name="Freeform 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6" name="TextBox 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6657806" y="-644520"/>
            <a:ext cx="1893194" cy="2145689"/>
            <a:chOff x="0" y="0"/>
            <a:chExt cx="698500" cy="791659"/>
          </a:xfrm>
        </p:grpSpPr>
        <p:sp>
          <p:nvSpPr>
            <p:cNvPr id="8" name="Freeform 8"/>
            <p:cNvSpPr/>
            <p:nvPr/>
          </p:nvSpPr>
          <p:spPr>
            <a:xfrm>
              <a:off x="0" y="0"/>
              <a:ext cx="698500" cy="791659"/>
            </a:xfrm>
            <a:custGeom>
              <a:avLst/>
              <a:gdLst/>
              <a:ahLst/>
              <a:cxnLst/>
              <a:rect l="l" t="t" r="r" b="b"/>
              <a:pathLst>
                <a:path w="698500" h="791659">
                  <a:moveTo>
                    <a:pt x="349250" y="0"/>
                  </a:moveTo>
                  <a:lnTo>
                    <a:pt x="698500" y="203200"/>
                  </a:lnTo>
                  <a:lnTo>
                    <a:pt x="698500" y="588459"/>
                  </a:lnTo>
                  <a:lnTo>
                    <a:pt x="349250" y="791659"/>
                  </a:lnTo>
                  <a:lnTo>
                    <a:pt x="0" y="588459"/>
                  </a:lnTo>
                  <a:lnTo>
                    <a:pt x="0" y="203200"/>
                  </a:lnTo>
                  <a:lnTo>
                    <a:pt x="349250" y="0"/>
                  </a:lnTo>
                  <a:close/>
                </a:path>
              </a:pathLst>
            </a:custGeom>
            <a:solidFill>
              <a:srgbClr val="FFFFFF"/>
            </a:solidFill>
          </p:spPr>
        </p:sp>
        <p:sp>
          <p:nvSpPr>
            <p:cNvPr id="9" name="TextBox 9"/>
            <p:cNvSpPr txBox="1"/>
            <p:nvPr/>
          </p:nvSpPr>
          <p:spPr>
            <a:xfrm>
              <a:off x="0" y="101600"/>
              <a:ext cx="698500" cy="550359"/>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6303229" y="544701"/>
            <a:ext cx="1244349" cy="1447970"/>
            <a:chOff x="0" y="0"/>
            <a:chExt cx="698500" cy="812800"/>
          </a:xfrm>
        </p:grpSpPr>
        <p:sp>
          <p:nvSpPr>
            <p:cNvPr id="11" name="Freeform 1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12" name="TextBox 12"/>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1028700" y="1028700"/>
            <a:ext cx="4962862" cy="3058927"/>
          </a:xfrm>
          <a:custGeom>
            <a:avLst/>
            <a:gdLst/>
            <a:ahLst/>
            <a:cxnLst/>
            <a:rect l="l" t="t" r="r" b="b"/>
            <a:pathLst>
              <a:path w="4962862" h="3058927">
                <a:moveTo>
                  <a:pt x="0" y="0"/>
                </a:moveTo>
                <a:lnTo>
                  <a:pt x="4962862" y="0"/>
                </a:lnTo>
                <a:lnTo>
                  <a:pt x="4962862" y="3058927"/>
                </a:lnTo>
                <a:lnTo>
                  <a:pt x="0" y="305892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4" name="Group 14"/>
          <p:cNvGrpSpPr/>
          <p:nvPr/>
        </p:nvGrpSpPr>
        <p:grpSpPr>
          <a:xfrm>
            <a:off x="16320692" y="8913120"/>
            <a:ext cx="1226887" cy="1427650"/>
            <a:chOff x="0" y="0"/>
            <a:chExt cx="698500" cy="812800"/>
          </a:xfrm>
        </p:grpSpPr>
        <p:sp>
          <p:nvSpPr>
            <p:cNvPr id="15" name="Freeform 1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FFFFFF"/>
            </a:solidFill>
          </p:spPr>
        </p:sp>
        <p:sp>
          <p:nvSpPr>
            <p:cNvPr id="16" name="TextBox 1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6462677" y="9582417"/>
            <a:ext cx="12479904" cy="1197508"/>
            <a:chOff x="0" y="0"/>
            <a:chExt cx="4559895" cy="437544"/>
          </a:xfrm>
        </p:grpSpPr>
        <p:sp>
          <p:nvSpPr>
            <p:cNvPr id="18" name="Freeform 18"/>
            <p:cNvSpPr/>
            <p:nvPr/>
          </p:nvSpPr>
          <p:spPr>
            <a:xfrm>
              <a:off x="0" y="0"/>
              <a:ext cx="4559895" cy="437544"/>
            </a:xfrm>
            <a:custGeom>
              <a:avLst/>
              <a:gdLst/>
              <a:ahLst/>
              <a:cxnLst/>
              <a:rect l="l" t="t" r="r" b="b"/>
              <a:pathLst>
                <a:path w="4559895" h="437544">
                  <a:moveTo>
                    <a:pt x="203200" y="0"/>
                  </a:moveTo>
                  <a:lnTo>
                    <a:pt x="4559895" y="0"/>
                  </a:lnTo>
                  <a:lnTo>
                    <a:pt x="4356695" y="437544"/>
                  </a:lnTo>
                  <a:lnTo>
                    <a:pt x="0" y="437544"/>
                  </a:lnTo>
                  <a:lnTo>
                    <a:pt x="203200" y="0"/>
                  </a:lnTo>
                  <a:close/>
                </a:path>
              </a:pathLst>
            </a:custGeom>
            <a:solidFill>
              <a:srgbClr val="FFFFFF"/>
            </a:solidFill>
          </p:spPr>
        </p:sp>
        <p:sp>
          <p:nvSpPr>
            <p:cNvPr id="19" name="TextBox 19"/>
            <p:cNvSpPr txBox="1"/>
            <p:nvPr/>
          </p:nvSpPr>
          <p:spPr>
            <a:xfrm>
              <a:off x="101600" y="-38100"/>
              <a:ext cx="4356695" cy="475644"/>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rot="4242376" flipH="1" flipV="1">
            <a:off x="6411535" y="7154880"/>
            <a:ext cx="1000490" cy="987756"/>
          </a:xfrm>
          <a:custGeom>
            <a:avLst/>
            <a:gdLst/>
            <a:ahLst/>
            <a:cxnLst/>
            <a:rect l="l" t="t" r="r" b="b"/>
            <a:pathLst>
              <a:path w="1000490" h="987756">
                <a:moveTo>
                  <a:pt x="1000490" y="987756"/>
                </a:moveTo>
                <a:lnTo>
                  <a:pt x="0" y="987756"/>
                </a:lnTo>
                <a:lnTo>
                  <a:pt x="0" y="0"/>
                </a:lnTo>
                <a:lnTo>
                  <a:pt x="1000490" y="0"/>
                </a:lnTo>
                <a:lnTo>
                  <a:pt x="1000490" y="987756"/>
                </a:lnTo>
                <a:close/>
              </a:path>
            </a:pathLst>
          </a:custGeom>
          <a:blipFill>
            <a:blip>
              <a:extLst>
                <a:ext uri="{96DAC541-7B7A-43D3-8B79-37D633B846F1}">
                  <asvg:svgBlip xmlns:asvg="http://schemas.microsoft.com/office/drawing/2016/SVG/main" r:embed="rId3"/>
                </a:ext>
              </a:extLst>
            </a:blip>
            <a:stretch>
              <a:fillRect/>
            </a:stretch>
          </a:blipFill>
        </p:spPr>
      </p:sp>
      <p:sp>
        <p:nvSpPr>
          <p:cNvPr id="21" name="Freeform 21"/>
          <p:cNvSpPr/>
          <p:nvPr/>
        </p:nvSpPr>
        <p:spPr>
          <a:xfrm flipH="1">
            <a:off x="2818778" y="4328751"/>
            <a:ext cx="4962862" cy="3058927"/>
          </a:xfrm>
          <a:custGeom>
            <a:avLst/>
            <a:gdLst/>
            <a:ahLst/>
            <a:cxnLst/>
            <a:rect l="l" t="t" r="r" b="b"/>
            <a:pathLst>
              <a:path w="4962862" h="3058927">
                <a:moveTo>
                  <a:pt x="4962862" y="0"/>
                </a:moveTo>
                <a:lnTo>
                  <a:pt x="0" y="0"/>
                </a:lnTo>
                <a:lnTo>
                  <a:pt x="0" y="3058928"/>
                </a:lnTo>
                <a:lnTo>
                  <a:pt x="4962862" y="3058928"/>
                </a:lnTo>
                <a:lnTo>
                  <a:pt x="4962862" y="0"/>
                </a:lnTo>
                <a:close/>
              </a:path>
            </a:pathLst>
          </a:custGeom>
          <a:blipFill>
            <a:blip>
              <a:extLst>
                <a:ext uri="{96DAC541-7B7A-43D3-8B79-37D633B846F1}">
                  <asvg:svgBlip xmlns:asvg="http://schemas.microsoft.com/office/drawing/2016/SVG/main" r:embed="rId5"/>
                </a:ext>
              </a:extLst>
            </a:blip>
            <a:stretch>
              <a:fillRect/>
            </a:stretch>
          </a:blipFill>
        </p:spPr>
      </p:sp>
      <p:sp>
        <p:nvSpPr>
          <p:cNvPr id="22" name="Freeform 22"/>
          <p:cNvSpPr/>
          <p:nvPr/>
        </p:nvSpPr>
        <p:spPr>
          <a:xfrm>
            <a:off x="4004261" y="595144"/>
            <a:ext cx="3777379" cy="4373807"/>
          </a:xfrm>
          <a:custGeom>
            <a:avLst/>
            <a:gdLst/>
            <a:ahLst/>
            <a:cxnLst/>
            <a:rect l="l" t="t" r="r" b="b"/>
            <a:pathLst>
              <a:path w="3777379" h="4373807">
                <a:moveTo>
                  <a:pt x="0" y="0"/>
                </a:moveTo>
                <a:lnTo>
                  <a:pt x="3777379" y="0"/>
                </a:lnTo>
                <a:lnTo>
                  <a:pt x="3777379" y="4373807"/>
                </a:lnTo>
                <a:lnTo>
                  <a:pt x="0" y="4373807"/>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23" name="Group 23"/>
          <p:cNvGrpSpPr/>
          <p:nvPr/>
        </p:nvGrpSpPr>
        <p:grpSpPr>
          <a:xfrm>
            <a:off x="-939048" y="8913120"/>
            <a:ext cx="9110785" cy="1866804"/>
            <a:chOff x="0" y="0"/>
            <a:chExt cx="3328890" cy="682091"/>
          </a:xfrm>
        </p:grpSpPr>
        <p:sp>
          <p:nvSpPr>
            <p:cNvPr id="24" name="Freeform 24"/>
            <p:cNvSpPr/>
            <p:nvPr/>
          </p:nvSpPr>
          <p:spPr>
            <a:xfrm>
              <a:off x="3460" y="0"/>
              <a:ext cx="3321970" cy="682091"/>
            </a:xfrm>
            <a:custGeom>
              <a:avLst/>
              <a:gdLst/>
              <a:ahLst/>
              <a:cxnLst/>
              <a:rect l="l" t="t" r="r" b="b"/>
              <a:pathLst>
                <a:path w="3321970" h="682091">
                  <a:moveTo>
                    <a:pt x="213336" y="0"/>
                  </a:moveTo>
                  <a:lnTo>
                    <a:pt x="3311834" y="0"/>
                  </a:lnTo>
                  <a:cubicBezTo>
                    <a:pt x="3315034" y="0"/>
                    <a:pt x="3318047" y="1512"/>
                    <a:pt x="3319960" y="4078"/>
                  </a:cubicBezTo>
                  <a:cubicBezTo>
                    <a:pt x="3321873" y="6644"/>
                    <a:pt x="3322462" y="9963"/>
                    <a:pt x="3321548" y="13030"/>
                  </a:cubicBezTo>
                  <a:lnTo>
                    <a:pt x="3126111" y="669061"/>
                  </a:lnTo>
                  <a:cubicBezTo>
                    <a:pt x="3123808" y="676792"/>
                    <a:pt x="3116700" y="682091"/>
                    <a:pt x="3108634" y="682091"/>
                  </a:cubicBezTo>
                  <a:lnTo>
                    <a:pt x="10136" y="682091"/>
                  </a:lnTo>
                  <a:cubicBezTo>
                    <a:pt x="6935" y="682091"/>
                    <a:pt x="3923" y="680579"/>
                    <a:pt x="2010" y="678013"/>
                  </a:cubicBezTo>
                  <a:cubicBezTo>
                    <a:pt x="97" y="675447"/>
                    <a:pt x="-492" y="672128"/>
                    <a:pt x="422" y="669061"/>
                  </a:cubicBezTo>
                  <a:lnTo>
                    <a:pt x="195858" y="13030"/>
                  </a:lnTo>
                  <a:cubicBezTo>
                    <a:pt x="198161" y="5299"/>
                    <a:pt x="205270" y="0"/>
                    <a:pt x="213336" y="0"/>
                  </a:cubicBezTo>
                  <a:close/>
                </a:path>
              </a:pathLst>
            </a:custGeom>
            <a:solidFill>
              <a:srgbClr val="FFFFFF"/>
            </a:solidFill>
          </p:spPr>
        </p:sp>
        <p:sp>
          <p:nvSpPr>
            <p:cNvPr id="25" name="TextBox 25"/>
            <p:cNvSpPr txBox="1"/>
            <p:nvPr/>
          </p:nvSpPr>
          <p:spPr>
            <a:xfrm>
              <a:off x="101600" y="-38100"/>
              <a:ext cx="3125690" cy="720191"/>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p:cNvSpPr txBox="1"/>
          <p:nvPr/>
        </p:nvSpPr>
        <p:spPr>
          <a:xfrm>
            <a:off x="8434737" y="2763314"/>
            <a:ext cx="10116263" cy="4325544"/>
          </a:xfrm>
          <a:prstGeom prst="rect">
            <a:avLst/>
          </a:prstGeom>
        </p:spPr>
        <p:txBody>
          <a:bodyPr lIns="0" tIns="0" rIns="0" bIns="0" rtlCol="0" anchor="t">
            <a:spAutoFit/>
          </a:bodyPr>
          <a:lstStyle/>
          <a:p>
            <a:pPr algn="l">
              <a:lnSpc>
                <a:spcPts val="16931"/>
              </a:lnSpc>
            </a:pPr>
            <a:r>
              <a:rPr lang="en-US" sz="15117" b="1">
                <a:solidFill>
                  <a:srgbClr val="FFFFFF"/>
                </a:solidFill>
                <a:latin typeface="Tomorrow Bold"/>
                <a:ea typeface="Tomorrow Bold"/>
                <a:cs typeface="Tomorrow Bold"/>
                <a:sym typeface="Tomorrow Bold"/>
              </a:rPr>
              <a:t>Thank You</a:t>
            </a:r>
          </a:p>
        </p:txBody>
      </p:sp>
      <p:grpSp>
        <p:nvGrpSpPr>
          <p:cNvPr id="27" name="Group 27"/>
          <p:cNvGrpSpPr/>
          <p:nvPr/>
        </p:nvGrpSpPr>
        <p:grpSpPr>
          <a:xfrm>
            <a:off x="17442757" y="654347"/>
            <a:ext cx="1911822" cy="2166801"/>
            <a:chOff x="0" y="0"/>
            <a:chExt cx="698500" cy="791659"/>
          </a:xfrm>
        </p:grpSpPr>
        <p:sp>
          <p:nvSpPr>
            <p:cNvPr id="28" name="Freeform 28"/>
            <p:cNvSpPr/>
            <p:nvPr/>
          </p:nvSpPr>
          <p:spPr>
            <a:xfrm>
              <a:off x="0" y="0"/>
              <a:ext cx="698500" cy="791659"/>
            </a:xfrm>
            <a:custGeom>
              <a:avLst/>
              <a:gdLst/>
              <a:ahLst/>
              <a:cxnLst/>
              <a:rect l="l" t="t" r="r" b="b"/>
              <a:pathLst>
                <a:path w="698500" h="791659">
                  <a:moveTo>
                    <a:pt x="349250" y="0"/>
                  </a:moveTo>
                  <a:lnTo>
                    <a:pt x="698500" y="203200"/>
                  </a:lnTo>
                  <a:lnTo>
                    <a:pt x="698500" y="588459"/>
                  </a:lnTo>
                  <a:lnTo>
                    <a:pt x="349250" y="791659"/>
                  </a:lnTo>
                  <a:lnTo>
                    <a:pt x="0" y="588459"/>
                  </a:lnTo>
                  <a:lnTo>
                    <a:pt x="0" y="203200"/>
                  </a:lnTo>
                  <a:lnTo>
                    <a:pt x="349250" y="0"/>
                  </a:lnTo>
                  <a:close/>
                </a:path>
              </a:pathLst>
            </a:custGeom>
            <a:solidFill>
              <a:srgbClr val="FFFFFF"/>
            </a:solidFill>
          </p:spPr>
        </p:sp>
        <p:sp>
          <p:nvSpPr>
            <p:cNvPr id="29" name="TextBox 29"/>
            <p:cNvSpPr txBox="1"/>
            <p:nvPr/>
          </p:nvSpPr>
          <p:spPr>
            <a:xfrm>
              <a:off x="0" y="101600"/>
              <a:ext cx="698500" cy="550359"/>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16934135" y="-644520"/>
            <a:ext cx="1464533" cy="1704183"/>
            <a:chOff x="0" y="0"/>
            <a:chExt cx="698500" cy="812800"/>
          </a:xfrm>
        </p:grpSpPr>
        <p:sp>
          <p:nvSpPr>
            <p:cNvPr id="31" name="Freeform 3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2" name="TextBox 32"/>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17175068" y="-364162"/>
            <a:ext cx="982667" cy="1143467"/>
            <a:chOff x="0" y="0"/>
            <a:chExt cx="698500" cy="812800"/>
          </a:xfrm>
        </p:grpSpPr>
        <p:sp>
          <p:nvSpPr>
            <p:cNvPr id="34" name="Freeform 3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35" name="TextBox 35"/>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a:off x="16522304" y="779305"/>
            <a:ext cx="823662" cy="958443"/>
            <a:chOff x="0" y="0"/>
            <a:chExt cx="698500" cy="812800"/>
          </a:xfrm>
        </p:grpSpPr>
        <p:sp>
          <p:nvSpPr>
            <p:cNvPr id="37" name="Freeform 37"/>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38" name="TextBox 3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16657806" y="936980"/>
            <a:ext cx="552658" cy="643092"/>
            <a:chOff x="0" y="0"/>
            <a:chExt cx="698500" cy="812800"/>
          </a:xfrm>
        </p:grpSpPr>
        <p:sp>
          <p:nvSpPr>
            <p:cNvPr id="40" name="Freeform 40"/>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1" name="TextBox 4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17666401" y="779305"/>
            <a:ext cx="1377586" cy="1603009"/>
            <a:chOff x="0" y="0"/>
            <a:chExt cx="698500" cy="812800"/>
          </a:xfrm>
        </p:grpSpPr>
        <p:sp>
          <p:nvSpPr>
            <p:cNvPr id="43" name="Freeform 43"/>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44" name="TextBox 4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17893030" y="1043019"/>
            <a:ext cx="924327" cy="1075581"/>
            <a:chOff x="0" y="0"/>
            <a:chExt cx="698500" cy="812800"/>
          </a:xfrm>
        </p:grpSpPr>
        <p:sp>
          <p:nvSpPr>
            <p:cNvPr id="46" name="Freeform 4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47" name="TextBox 4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16934135" y="7744883"/>
            <a:ext cx="1464533" cy="1704183"/>
            <a:chOff x="0" y="0"/>
            <a:chExt cx="698500" cy="812800"/>
          </a:xfrm>
        </p:grpSpPr>
        <p:sp>
          <p:nvSpPr>
            <p:cNvPr id="49" name="Freeform 49"/>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0" name="TextBox 5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1" name="Group 51"/>
          <p:cNvGrpSpPr/>
          <p:nvPr/>
        </p:nvGrpSpPr>
        <p:grpSpPr>
          <a:xfrm>
            <a:off x="17175068" y="8025241"/>
            <a:ext cx="982667" cy="1143467"/>
            <a:chOff x="0" y="0"/>
            <a:chExt cx="698500" cy="812800"/>
          </a:xfrm>
        </p:grpSpPr>
        <p:sp>
          <p:nvSpPr>
            <p:cNvPr id="52" name="Freeform 52"/>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3" name="TextBox 5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4" name="Group 54"/>
          <p:cNvGrpSpPr/>
          <p:nvPr/>
        </p:nvGrpSpPr>
        <p:grpSpPr>
          <a:xfrm>
            <a:off x="16522304" y="9168708"/>
            <a:ext cx="823662" cy="958443"/>
            <a:chOff x="0" y="0"/>
            <a:chExt cx="698500" cy="812800"/>
          </a:xfrm>
        </p:grpSpPr>
        <p:sp>
          <p:nvSpPr>
            <p:cNvPr id="55" name="Freeform 55"/>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56" name="TextBox 5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57" name="Group 57"/>
          <p:cNvGrpSpPr/>
          <p:nvPr/>
        </p:nvGrpSpPr>
        <p:grpSpPr>
          <a:xfrm>
            <a:off x="16657806" y="9326383"/>
            <a:ext cx="552658" cy="643092"/>
            <a:chOff x="0" y="0"/>
            <a:chExt cx="698500" cy="812800"/>
          </a:xfrm>
        </p:grpSpPr>
        <p:sp>
          <p:nvSpPr>
            <p:cNvPr id="58" name="Freeform 58"/>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59" name="TextBox 59"/>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60" name="Group 60"/>
          <p:cNvGrpSpPr/>
          <p:nvPr/>
        </p:nvGrpSpPr>
        <p:grpSpPr>
          <a:xfrm>
            <a:off x="17666401" y="9168708"/>
            <a:ext cx="1377586" cy="1603009"/>
            <a:chOff x="0" y="0"/>
            <a:chExt cx="698500" cy="812800"/>
          </a:xfrm>
        </p:grpSpPr>
        <p:sp>
          <p:nvSpPr>
            <p:cNvPr id="61" name="Freeform 61"/>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0A4C4C"/>
            </a:solidFill>
          </p:spPr>
        </p:sp>
        <p:sp>
          <p:nvSpPr>
            <p:cNvPr id="62" name="TextBox 62"/>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63" name="Group 63"/>
          <p:cNvGrpSpPr/>
          <p:nvPr/>
        </p:nvGrpSpPr>
        <p:grpSpPr>
          <a:xfrm>
            <a:off x="17893030" y="9432422"/>
            <a:ext cx="924327" cy="1075581"/>
            <a:chOff x="0" y="0"/>
            <a:chExt cx="698500" cy="812800"/>
          </a:xfrm>
        </p:grpSpPr>
        <p:sp>
          <p:nvSpPr>
            <p:cNvPr id="64" name="Freeform 64"/>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158E8F"/>
            </a:solidFill>
          </p:spPr>
        </p:sp>
        <p:sp>
          <p:nvSpPr>
            <p:cNvPr id="65" name="TextBox 65"/>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66" name="Freeform 66"/>
          <p:cNvSpPr/>
          <p:nvPr/>
        </p:nvSpPr>
        <p:spPr>
          <a:xfrm>
            <a:off x="730579" y="9168708"/>
            <a:ext cx="885914" cy="885914"/>
          </a:xfrm>
          <a:custGeom>
            <a:avLst/>
            <a:gdLst/>
            <a:ahLst/>
            <a:cxnLst/>
            <a:rect l="l" t="t" r="r" b="b"/>
            <a:pathLst>
              <a:path w="885914" h="885914">
                <a:moveTo>
                  <a:pt x="0" y="0"/>
                </a:moveTo>
                <a:lnTo>
                  <a:pt x="885914" y="0"/>
                </a:lnTo>
                <a:lnTo>
                  <a:pt x="885914" y="885914"/>
                </a:lnTo>
                <a:lnTo>
                  <a:pt x="0" y="88591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67" name="Freeform 67"/>
          <p:cNvSpPr/>
          <p:nvPr/>
        </p:nvSpPr>
        <p:spPr>
          <a:xfrm>
            <a:off x="827148" y="4789697"/>
            <a:ext cx="2034515" cy="1882851"/>
          </a:xfrm>
          <a:custGeom>
            <a:avLst/>
            <a:gdLst/>
            <a:ahLst/>
            <a:cxnLst/>
            <a:rect l="l" t="t" r="r" b="b"/>
            <a:pathLst>
              <a:path w="2034515" h="1882851">
                <a:moveTo>
                  <a:pt x="0" y="0"/>
                </a:moveTo>
                <a:lnTo>
                  <a:pt x="2034515" y="0"/>
                </a:lnTo>
                <a:lnTo>
                  <a:pt x="2034515" y="1882852"/>
                </a:lnTo>
                <a:lnTo>
                  <a:pt x="0" y="1882852"/>
                </a:lnTo>
                <a:lnTo>
                  <a:pt x="0" y="0"/>
                </a:lnTo>
                <a:close/>
              </a:path>
            </a:pathLst>
          </a:custGeom>
          <a:blipFill>
            <a:blip>
              <a:extLst>
                <a:ext uri="{96DAC541-7B7A-43D3-8B79-37D633B846F1}">
                  <asvg:svgBlip xmlns:asvg="http://schemas.microsoft.com/office/drawing/2016/SVG/main" r:embed="rId8"/>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510</Words>
  <Application>Microsoft Office PowerPoint</Application>
  <PresentationFormat>Custom</PresentationFormat>
  <Paragraphs>80</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Canva Sans</vt:lpstr>
      <vt:lpstr>Calibri</vt:lpstr>
      <vt:lpstr>Tomorrow Bold</vt:lpstr>
      <vt:lpstr>Proxima Nova Bold</vt:lpstr>
      <vt:lpstr>Arial</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dc:title>
  <dc:creator>ROLLZ HO</dc:creator>
  <cp:lastModifiedBy>anshika singh</cp:lastModifiedBy>
  <cp:revision>3</cp:revision>
  <dcterms:created xsi:type="dcterms:W3CDTF">2006-08-16T00:00:00Z</dcterms:created>
  <dcterms:modified xsi:type="dcterms:W3CDTF">2026-05-06T19:11:18Z</dcterms:modified>
  <dc:identifier>DAHIx-scTeM</dc:identifier>
</cp:coreProperties>
</file>